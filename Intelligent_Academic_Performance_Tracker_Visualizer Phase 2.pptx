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  <p:sldId id="276" r:id="rId16"/>
    <p:sldId id="267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84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74639" y="2093005"/>
            <a:ext cx="2002154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8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8" y="6546849"/>
                </a:lnTo>
                <a:close/>
              </a:path>
            </a:pathLst>
          </a:custGeom>
          <a:ln w="9524">
            <a:solidFill>
              <a:srgbClr val="78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1851" y="1426572"/>
            <a:ext cx="6560184" cy="3652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74697" y="212161"/>
            <a:ext cx="4858385" cy="16132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53410">
              <a:lnSpc>
                <a:spcPct val="100000"/>
              </a:lnSpc>
            </a:pPr>
            <a:br>
              <a:rPr lang="en-IN" sz="2600" spc="-25" dirty="0">
                <a:latin typeface="Times New Roman"/>
                <a:cs typeface="Times New Roman"/>
              </a:rPr>
            </a:br>
            <a:br>
              <a:rPr lang="en-IN" sz="2600" spc="-25" dirty="0">
                <a:latin typeface="Times New Roman"/>
                <a:cs typeface="Times New Roman"/>
              </a:rPr>
            </a:br>
            <a:r>
              <a:rPr lang="en-IN" sz="2600" spc="-25" dirty="0">
                <a:latin typeface="Times New Roman"/>
                <a:cs typeface="Times New Roman"/>
              </a:rPr>
              <a:t> </a:t>
            </a:r>
            <a:r>
              <a:rPr lang="en-IN" sz="2600" spc="-10" dirty="0">
                <a:latin typeface="Times New Roman"/>
                <a:cs typeface="Times New Roman"/>
              </a:rPr>
              <a:t>“</a:t>
            </a:r>
            <a:r>
              <a:rPr lang="en-IN" sz="2600" spc="-10" dirty="0" err="1">
                <a:latin typeface="Times New Roman"/>
                <a:cs typeface="Times New Roman"/>
              </a:rPr>
              <a:t>IntelligentAcademicPerformance</a:t>
            </a:r>
            <a:endParaRPr lang="en-IN"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1473" y="1853944"/>
            <a:ext cx="6601459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algn="ctr">
              <a:lnSpc>
                <a:spcPts val="3010"/>
              </a:lnSpc>
              <a:spcBef>
                <a:spcPts val="100"/>
              </a:spcBef>
            </a:pPr>
            <a:r>
              <a:rPr sz="2600" b="1" dirty="0">
                <a:latin typeface="Times New Roman"/>
                <a:cs typeface="Times New Roman"/>
              </a:rPr>
              <a:t>Tracker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&amp;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Visualizer”</a:t>
            </a:r>
            <a:endParaRPr sz="2600" dirty="0">
              <a:latin typeface="Times New Roman"/>
              <a:cs typeface="Times New Roman"/>
            </a:endParaRPr>
          </a:p>
          <a:p>
            <a:pPr algn="ctr">
              <a:lnSpc>
                <a:spcPts val="2770"/>
              </a:lnSpc>
            </a:pP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under</a:t>
            </a:r>
            <a:r>
              <a:rPr sz="2400" b="1" spc="-7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the</a:t>
            </a:r>
            <a:r>
              <a:rPr sz="2400" b="1" spc="-6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course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Python</a:t>
            </a:r>
            <a:r>
              <a:rPr sz="2400" b="1" spc="-7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7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Language</a:t>
            </a:r>
            <a:r>
              <a:rPr sz="2400" b="1" spc="-7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70C0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3314188"/>
            <a:ext cx="1611630" cy="9525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02099"/>
              </a:lnSpc>
              <a:spcBef>
                <a:spcPts val="5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 </a:t>
            </a:r>
            <a:r>
              <a:rPr sz="2000" b="1" dirty="0">
                <a:latin typeface="Times New Roman"/>
                <a:cs typeface="Times New Roman"/>
              </a:rPr>
              <a:t>Diggaj </a:t>
            </a:r>
            <a:r>
              <a:rPr sz="2000" b="1" spc="-10" dirty="0">
                <a:latin typeface="Times New Roman"/>
                <a:cs typeface="Times New Roman"/>
              </a:rPr>
              <a:t>Turkar [CM25076]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7522" y="3251298"/>
            <a:ext cx="1455565" cy="10244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96788" y="3278905"/>
            <a:ext cx="2223770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lang="en-US" sz="2000" dirty="0">
              <a:latin typeface="Times New Roman"/>
              <a:cs typeface="Times New Roman"/>
            </a:endParaRPr>
          </a:p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latin typeface="Times New Roman"/>
                <a:cs typeface="Times New Roman"/>
              </a:rPr>
              <a:t>Mrs. </a:t>
            </a:r>
            <a:r>
              <a:rPr sz="2000" b="1" spc="-10" dirty="0">
                <a:latin typeface="Times New Roman"/>
                <a:cs typeface="Times New Roman"/>
              </a:rPr>
              <a:t>Mayuri Getme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9140" y="4650104"/>
            <a:ext cx="234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Session: 2026-27 </a:t>
            </a:r>
            <a:r>
              <a:rPr sz="1800" b="1" spc="-10" dirty="0">
                <a:latin typeface="Times New Roman"/>
                <a:cs typeface="Times New Roman"/>
              </a:rPr>
              <a:t>(ODD)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7325" y="4924424"/>
            <a:ext cx="6796405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38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2012950" marR="5080" indent="-20002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S.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B.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JAIN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INSTITUTE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TECHNOLOGY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MANAGEMENT</a:t>
            </a:r>
            <a:r>
              <a:rPr sz="1800" b="1" spc="-25" dirty="0">
                <a:latin typeface="Times New Roman"/>
                <a:cs typeface="Times New Roman"/>
              </a:rPr>
              <a:t> AND </a:t>
            </a:r>
            <a:r>
              <a:rPr sz="1800" b="1" dirty="0">
                <a:latin typeface="Times New Roman"/>
                <a:cs typeface="Times New Roman"/>
              </a:rPr>
              <a:t>RESEARCH,</a:t>
            </a:r>
            <a:r>
              <a:rPr sz="1800" b="1" spc="-10" dirty="0">
                <a:latin typeface="Times New Roman"/>
                <a:cs typeface="Times New Roman"/>
              </a:rPr>
              <a:t> NAGPUR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An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Autonomous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Institute,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Affiliated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RTMNU,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Nagpur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62260-2DA5-2916-EDE4-2D13C1B90860}"/>
              </a:ext>
            </a:extLst>
          </p:cNvPr>
          <p:cNvSpPr txBox="1"/>
          <p:nvPr/>
        </p:nvSpPr>
        <p:spPr>
          <a:xfrm>
            <a:off x="4128687" y="978120"/>
            <a:ext cx="914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B8E54-781B-2786-6BBB-575675322BF1}"/>
              </a:ext>
            </a:extLst>
          </p:cNvPr>
          <p:cNvSpPr txBox="1"/>
          <p:nvPr/>
        </p:nvSpPr>
        <p:spPr>
          <a:xfrm>
            <a:off x="2850397" y="190909"/>
            <a:ext cx="34432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spc="-10" dirty="0">
                <a:latin typeface="Times New Roman"/>
                <a:cs typeface="Times New Roman"/>
              </a:rPr>
              <a:t>Experiential</a:t>
            </a:r>
            <a:r>
              <a:rPr lang="en-IN" sz="2600" b="1" spc="-80" dirty="0">
                <a:latin typeface="Times New Roman"/>
                <a:cs typeface="Times New Roman"/>
              </a:rPr>
              <a:t> </a:t>
            </a:r>
            <a:r>
              <a:rPr lang="en-IN" sz="2600" b="1" spc="-10" dirty="0">
                <a:latin typeface="Times New Roman"/>
                <a:cs typeface="Times New Roman"/>
              </a:rPr>
              <a:t>Learning </a:t>
            </a:r>
            <a:r>
              <a:rPr lang="en-IN" sz="2600" b="1" dirty="0">
                <a:latin typeface="Times New Roman"/>
                <a:cs typeface="Times New Roman"/>
              </a:rPr>
              <a:t>Project</a:t>
            </a:r>
            <a:r>
              <a:rPr lang="en-IN" sz="2600" b="1" spc="55" dirty="0">
                <a:latin typeface="Times New Roman"/>
                <a:cs typeface="Times New Roman"/>
              </a:rPr>
              <a:t> </a:t>
            </a:r>
            <a:r>
              <a:rPr lang="en-IN" sz="2600" b="1" spc="-10" dirty="0">
                <a:latin typeface="Times New Roman"/>
                <a:cs typeface="Times New Roman"/>
              </a:rPr>
              <a:t>Assessment-</a:t>
            </a:r>
            <a:r>
              <a:rPr lang="en-IN" sz="2600" b="1" spc="-50" dirty="0">
                <a:latin typeface="Times New Roman"/>
                <a:cs typeface="Times New Roman"/>
              </a:rPr>
              <a:t>II</a:t>
            </a:r>
            <a:endParaRPr lang="en-IN" sz="2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/>
                <a:cs typeface="Times New Roman"/>
              </a:rPr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755" y="879728"/>
            <a:ext cx="619887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 marR="4258945" indent="-2133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6695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 	Objectives 	Algorithm</a:t>
            </a:r>
            <a:endParaRPr sz="1800">
              <a:latin typeface="Times New Roman"/>
              <a:cs typeface="Times New Roman"/>
            </a:endParaRPr>
          </a:p>
          <a:p>
            <a:pPr marL="226695" marR="250571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Flowchart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pseudocode </a:t>
            </a:r>
            <a:r>
              <a:rPr sz="1800" dirty="0">
                <a:latin typeface="Times New Roman"/>
                <a:cs typeface="Times New Roman"/>
              </a:rPr>
              <a:t>Understanding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Python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logic Graphical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working</a:t>
            </a:r>
            <a:endParaRPr sz="1800">
              <a:latin typeface="Times New Roman"/>
              <a:cs typeface="Times New Roman"/>
            </a:endParaRPr>
          </a:p>
          <a:p>
            <a:pPr marL="226695" marR="5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GitHub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account,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repository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creation,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uploading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code,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meaningful </a:t>
            </a:r>
            <a:r>
              <a:rPr sz="1800" dirty="0">
                <a:latin typeface="Times New Roman"/>
                <a:cs typeface="Times New Roman"/>
              </a:rPr>
              <a:t>commits,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collaboration,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contribution</a:t>
            </a:r>
            <a:endParaRPr sz="180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Result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expected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output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361677"/>
            <a:ext cx="3402329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S.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Jain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Management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35" dirty="0"/>
              <a:t> </a:t>
            </a: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8388" y="1202771"/>
            <a:ext cx="6525259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marR="5080" indent="-377825">
              <a:lnSpc>
                <a:spcPct val="100000"/>
              </a:lnSpc>
              <a:spcBef>
                <a:spcPts val="100"/>
              </a:spcBef>
              <a:buChar char="●"/>
              <a:tabLst>
                <a:tab pos="38989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subjects,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grades,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GPA/CGPA,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percentage,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consuming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marR="3175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wise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GPA/CGPA,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marR="226695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strengths,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subjects,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status,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5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8679" y="1042718"/>
            <a:ext cx="7226300" cy="3789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620" marR="180340" indent="-376555">
              <a:lnSpc>
                <a:spcPct val="100000"/>
              </a:lnSpc>
              <a:spcBef>
                <a:spcPts val="100"/>
              </a:spcBef>
              <a:buChar char="●"/>
              <a:tabLst>
                <a:tab pos="388620" algn="l"/>
              </a:tabLst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develop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Python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application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tracking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student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academic performance.</a:t>
            </a:r>
            <a:endParaRPr sz="1900">
              <a:latin typeface="Arial MT"/>
              <a:cs typeface="Arial MT"/>
            </a:endParaRPr>
          </a:p>
          <a:p>
            <a:pPr marL="388620" marR="545465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calculate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subject-</a:t>
            </a:r>
            <a:r>
              <a:rPr sz="1900" dirty="0">
                <a:latin typeface="Arial MT"/>
                <a:cs typeface="Arial MT"/>
              </a:rPr>
              <a:t>wise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marks,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grades,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grade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points,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spc="-10" dirty="0">
                <a:latin typeface="Arial MT"/>
                <a:cs typeface="Arial MT"/>
              </a:rPr>
              <a:t>attendance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percentage.</a:t>
            </a:r>
            <a:endParaRPr sz="1900">
              <a:latin typeface="Arial MT"/>
              <a:cs typeface="Arial MT"/>
            </a:endParaRPr>
          </a:p>
          <a:p>
            <a:pPr marL="388620" marR="248285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calculate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semester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GPA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overall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CGPA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academic records.</a:t>
            </a:r>
            <a:endParaRPr sz="1900">
              <a:latin typeface="Arial MT"/>
              <a:cs typeface="Arial MT"/>
            </a:endParaRPr>
          </a:p>
          <a:p>
            <a:pPr marL="388620" marR="127635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identify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strong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weak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subjects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using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score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comparisons.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visualize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marks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performance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trends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using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charts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spc="-10" dirty="0">
                <a:latin typeface="Arial MT"/>
                <a:cs typeface="Arial MT"/>
              </a:rPr>
              <a:t>graphs.</a:t>
            </a:r>
            <a:endParaRPr sz="1900">
              <a:latin typeface="Arial MT"/>
              <a:cs typeface="Arial MT"/>
            </a:endParaRPr>
          </a:p>
          <a:p>
            <a:pPr marL="388620" marR="5080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provide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simple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understandable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academic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performance summary.</a:t>
            </a:r>
            <a:endParaRPr sz="1900">
              <a:latin typeface="Arial MT"/>
              <a:cs typeface="Arial MT"/>
            </a:endParaRPr>
          </a:p>
          <a:p>
            <a:pPr marL="388620" marR="278130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practice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Python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handling,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functions,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calculations,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spc="-10" dirty="0">
                <a:latin typeface="Arial MT"/>
                <a:cs typeface="Arial MT"/>
              </a:rPr>
              <a:t>visualization.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970" y="1119601"/>
            <a:ext cx="6790055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00"/>
              </a:spcBef>
              <a:buChar char="●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Start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program.</a:t>
            </a:r>
            <a:endParaRPr sz="1800">
              <a:latin typeface="Arial MT"/>
              <a:cs typeface="Arial MT"/>
            </a:endParaRPr>
          </a:p>
          <a:p>
            <a:pPr marL="387350" marR="55562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details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subject-</a:t>
            </a:r>
            <a:r>
              <a:rPr sz="1800" dirty="0">
                <a:latin typeface="Arial MT"/>
                <a:cs typeface="Arial MT"/>
              </a:rPr>
              <a:t>wise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credits,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spc="-10" dirty="0">
                <a:latin typeface="Arial MT"/>
                <a:cs typeface="Arial MT"/>
              </a:rPr>
              <a:t>attendance.</a:t>
            </a:r>
            <a:endParaRPr sz="1800">
              <a:latin typeface="Arial MT"/>
              <a:cs typeface="Arial MT"/>
            </a:endParaRPr>
          </a:p>
          <a:p>
            <a:pPr marL="38735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Calculate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total/percentage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attendance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percentage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each </a:t>
            </a:r>
            <a:r>
              <a:rPr sz="1800" spc="-10" dirty="0">
                <a:latin typeface="Arial MT"/>
                <a:cs typeface="Arial MT"/>
              </a:rPr>
              <a:t>subject.</a:t>
            </a:r>
            <a:endParaRPr sz="1800">
              <a:latin typeface="Arial MT"/>
              <a:cs typeface="Arial MT"/>
            </a:endParaRPr>
          </a:p>
          <a:p>
            <a:pPr marL="387350" marR="13335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Convert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grades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grading scale.</a:t>
            </a:r>
            <a:endParaRPr sz="1800">
              <a:latin typeface="Arial MT"/>
              <a:cs typeface="Arial MT"/>
            </a:endParaRPr>
          </a:p>
          <a:p>
            <a:pPr marL="387350" marR="5403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Calculate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weighted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semester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GPA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subject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credits.</a:t>
            </a:r>
            <a:endParaRPr sz="1800">
              <a:latin typeface="Arial MT"/>
              <a:cs typeface="Arial MT"/>
            </a:endParaRPr>
          </a:p>
          <a:p>
            <a:pPr marL="387350" marR="112522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Calculate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CGPA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semester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GPAs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cumulative credit-</a:t>
            </a:r>
            <a:r>
              <a:rPr sz="1800" dirty="0">
                <a:latin typeface="Arial MT"/>
                <a:cs typeface="Arial MT"/>
              </a:rPr>
              <a:t>weighted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points.</a:t>
            </a:r>
            <a:endParaRPr sz="1800">
              <a:latin typeface="Arial MT"/>
              <a:cs typeface="Arial MT"/>
            </a:endParaRPr>
          </a:p>
          <a:p>
            <a:pPr marL="387350" marR="112395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Generate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subject-</a:t>
            </a:r>
            <a:r>
              <a:rPr sz="1800" dirty="0">
                <a:latin typeface="Arial MT"/>
                <a:cs typeface="Arial MT"/>
              </a:rPr>
              <a:t>wise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 </a:t>
            </a:r>
            <a:r>
              <a:rPr sz="1800" spc="-10" dirty="0">
                <a:latin typeface="Arial MT"/>
                <a:cs typeface="Arial MT"/>
              </a:rPr>
              <a:t>semester-</a:t>
            </a:r>
            <a:r>
              <a:rPr sz="1800" dirty="0">
                <a:latin typeface="Arial MT"/>
                <a:cs typeface="Arial MT"/>
              </a:rPr>
              <a:t>wise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charts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spc="-10" dirty="0">
                <a:latin typeface="Arial MT"/>
                <a:cs typeface="Arial MT"/>
              </a:rPr>
              <a:t>visualization.</a:t>
            </a:r>
            <a:endParaRPr sz="1800">
              <a:latin typeface="Arial MT"/>
              <a:cs typeface="Arial MT"/>
            </a:endParaRPr>
          </a:p>
          <a:p>
            <a:pPr marL="387350" marR="40322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Display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academic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summary,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attendance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status,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grades, </a:t>
            </a:r>
            <a:r>
              <a:rPr sz="1800" dirty="0">
                <a:latin typeface="Arial MT"/>
                <a:cs typeface="Arial MT"/>
              </a:rPr>
              <a:t>GPA/CGPA,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trends.</a:t>
            </a:r>
            <a:endParaRPr sz="1800">
              <a:latin typeface="Arial MT"/>
              <a:cs typeface="Arial MT"/>
            </a:endParaRPr>
          </a:p>
          <a:p>
            <a:pPr marL="38735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Stop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35" dirty="0"/>
              <a:t> </a:t>
            </a:r>
            <a:r>
              <a:rPr spc="-10" dirty="0"/>
              <a:t>Flowchart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9637" y="1136477"/>
            <a:ext cx="2101215" cy="683895"/>
            <a:chOff x="869637" y="1136477"/>
            <a:chExt cx="210121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637" y="1136477"/>
              <a:ext cx="2101205" cy="6838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" y="1158239"/>
              <a:ext cx="2011679" cy="5943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4399" y="1158239"/>
              <a:ext cx="2011680" cy="594360"/>
            </a:xfrm>
            <a:custGeom>
              <a:avLst/>
              <a:gdLst/>
              <a:ahLst/>
              <a:cxnLst/>
              <a:rect l="l" t="t" r="r" b="b"/>
              <a:pathLst>
                <a:path w="2011680" h="594360">
                  <a:moveTo>
                    <a:pt x="323638" y="0"/>
                  </a:moveTo>
                  <a:lnTo>
                    <a:pt x="1688041" y="0"/>
                  </a:lnTo>
                  <a:lnTo>
                    <a:pt x="1735866" y="3222"/>
                  </a:lnTo>
                  <a:lnTo>
                    <a:pt x="1781512" y="12582"/>
                  </a:lnTo>
                  <a:lnTo>
                    <a:pt x="1824479" y="27620"/>
                  </a:lnTo>
                  <a:lnTo>
                    <a:pt x="1864266" y="47877"/>
                  </a:lnTo>
                  <a:lnTo>
                    <a:pt x="1900372" y="72893"/>
                  </a:lnTo>
                  <a:lnTo>
                    <a:pt x="1932296" y="102208"/>
                  </a:lnTo>
                  <a:lnTo>
                    <a:pt x="1959539" y="135362"/>
                  </a:lnTo>
                  <a:lnTo>
                    <a:pt x="1981600" y="171896"/>
                  </a:lnTo>
                  <a:lnTo>
                    <a:pt x="1997977" y="211350"/>
                  </a:lnTo>
                  <a:lnTo>
                    <a:pt x="2008170" y="253264"/>
                  </a:lnTo>
                  <a:lnTo>
                    <a:pt x="2011679" y="297179"/>
                  </a:lnTo>
                  <a:lnTo>
                    <a:pt x="2008170" y="341095"/>
                  </a:lnTo>
                  <a:lnTo>
                    <a:pt x="1997977" y="383009"/>
                  </a:lnTo>
                  <a:lnTo>
                    <a:pt x="1981600" y="422463"/>
                  </a:lnTo>
                  <a:lnTo>
                    <a:pt x="1959539" y="458997"/>
                  </a:lnTo>
                  <a:lnTo>
                    <a:pt x="1932296" y="492151"/>
                  </a:lnTo>
                  <a:lnTo>
                    <a:pt x="1900372" y="521466"/>
                  </a:lnTo>
                  <a:lnTo>
                    <a:pt x="1864266" y="546482"/>
                  </a:lnTo>
                  <a:lnTo>
                    <a:pt x="1824479" y="566739"/>
                  </a:lnTo>
                  <a:lnTo>
                    <a:pt x="1781512" y="581777"/>
                  </a:lnTo>
                  <a:lnTo>
                    <a:pt x="1735866" y="591137"/>
                  </a:lnTo>
                  <a:lnTo>
                    <a:pt x="1688041" y="594359"/>
                  </a:lnTo>
                  <a:lnTo>
                    <a:pt x="323638" y="594359"/>
                  </a:lnTo>
                  <a:lnTo>
                    <a:pt x="275813" y="591137"/>
                  </a:lnTo>
                  <a:lnTo>
                    <a:pt x="230167" y="581777"/>
                  </a:lnTo>
                  <a:lnTo>
                    <a:pt x="187200" y="566739"/>
                  </a:lnTo>
                  <a:lnTo>
                    <a:pt x="147413" y="546482"/>
                  </a:lnTo>
                  <a:lnTo>
                    <a:pt x="111307" y="521466"/>
                  </a:lnTo>
                  <a:lnTo>
                    <a:pt x="79383" y="492151"/>
                  </a:lnTo>
                  <a:lnTo>
                    <a:pt x="52140" y="458997"/>
                  </a:lnTo>
                  <a:lnTo>
                    <a:pt x="30079" y="422463"/>
                  </a:lnTo>
                  <a:lnTo>
                    <a:pt x="13702" y="383009"/>
                  </a:lnTo>
                  <a:lnTo>
                    <a:pt x="3509" y="341095"/>
                  </a:lnTo>
                  <a:lnTo>
                    <a:pt x="0" y="297179"/>
                  </a:lnTo>
                  <a:lnTo>
                    <a:pt x="3509" y="253264"/>
                  </a:lnTo>
                  <a:lnTo>
                    <a:pt x="13702" y="211350"/>
                  </a:lnTo>
                  <a:lnTo>
                    <a:pt x="30079" y="171896"/>
                  </a:lnTo>
                  <a:lnTo>
                    <a:pt x="52140" y="135362"/>
                  </a:lnTo>
                  <a:lnTo>
                    <a:pt x="79383" y="102208"/>
                  </a:lnTo>
                  <a:lnTo>
                    <a:pt x="111307" y="72893"/>
                  </a:lnTo>
                  <a:lnTo>
                    <a:pt x="147413" y="47877"/>
                  </a:lnTo>
                  <a:lnTo>
                    <a:pt x="187200" y="27620"/>
                  </a:lnTo>
                  <a:lnTo>
                    <a:pt x="230167" y="12582"/>
                  </a:lnTo>
                  <a:lnTo>
                    <a:pt x="275813" y="3222"/>
                  </a:lnTo>
                  <a:lnTo>
                    <a:pt x="323638" y="0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30453" y="1328927"/>
            <a:ext cx="372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29957" y="1121237"/>
            <a:ext cx="2466975" cy="683895"/>
            <a:chOff x="3429957" y="1121237"/>
            <a:chExt cx="2466975" cy="6838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957" y="1121237"/>
              <a:ext cx="2466965" cy="68388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4720" y="1143000"/>
              <a:ext cx="2377439" cy="5943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74720" y="1143000"/>
              <a:ext cx="2377440" cy="594360"/>
            </a:xfrm>
            <a:custGeom>
              <a:avLst/>
              <a:gdLst/>
              <a:ahLst/>
              <a:cxnLst/>
              <a:rect l="l" t="t" r="r" b="b"/>
              <a:pathLst>
                <a:path w="2377440" h="594360">
                  <a:moveTo>
                    <a:pt x="0" y="594359"/>
                  </a:moveTo>
                  <a:lnTo>
                    <a:pt x="148589" y="0"/>
                  </a:lnTo>
                  <a:lnTo>
                    <a:pt x="2377439" y="0"/>
                  </a:lnTo>
                  <a:lnTo>
                    <a:pt x="2228849" y="594359"/>
                  </a:lnTo>
                  <a:lnTo>
                    <a:pt x="0" y="594359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63026" y="1313688"/>
            <a:ext cx="1375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Enter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56037" y="1121237"/>
            <a:ext cx="1826895" cy="683895"/>
            <a:chOff x="6356037" y="1121237"/>
            <a:chExt cx="1826895" cy="68389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6037" y="1121237"/>
              <a:ext cx="1826885" cy="68388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0799" y="1143000"/>
              <a:ext cx="1737359" cy="5943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00799" y="1143000"/>
              <a:ext cx="1737360" cy="594360"/>
            </a:xfrm>
            <a:custGeom>
              <a:avLst/>
              <a:gdLst/>
              <a:ahLst/>
              <a:cxnLst/>
              <a:rect l="l" t="t" r="r" b="b"/>
              <a:pathLst>
                <a:path w="1737359" h="594360">
                  <a:moveTo>
                    <a:pt x="0" y="0"/>
                  </a:moveTo>
                  <a:lnTo>
                    <a:pt x="1737359" y="0"/>
                  </a:lnTo>
                  <a:lnTo>
                    <a:pt x="1737359" y="594359"/>
                  </a:lnTo>
                  <a:lnTo>
                    <a:pt x="0" y="59435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05562" y="1238503"/>
            <a:ext cx="1727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1175" marR="297815" indent="-2070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Calculate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marks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&amp;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attendance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84037" y="2309957"/>
            <a:ext cx="5393055" cy="683895"/>
            <a:chOff x="1784037" y="2309957"/>
            <a:chExt cx="5393055" cy="68389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4037" y="2309957"/>
              <a:ext cx="2375525" cy="68388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8800" y="2331720"/>
              <a:ext cx="2285999" cy="5943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01557" y="2309957"/>
              <a:ext cx="2375525" cy="68388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6320" y="2331720"/>
              <a:ext cx="2285999" cy="59435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2873380" y="1407480"/>
            <a:ext cx="4448810" cy="2185670"/>
            <a:chOff x="2873380" y="1407480"/>
            <a:chExt cx="4448810" cy="218567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380" y="1407480"/>
              <a:ext cx="654040" cy="1054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926079" y="1440180"/>
              <a:ext cx="548640" cy="0"/>
            </a:xfrm>
            <a:custGeom>
              <a:avLst/>
              <a:gdLst/>
              <a:ahLst/>
              <a:cxnLst/>
              <a:rect l="l" t="t" r="r" b="b"/>
              <a:pathLst>
                <a:path w="548639">
                  <a:moveTo>
                    <a:pt x="0" y="0"/>
                  </a:moveTo>
                  <a:lnTo>
                    <a:pt x="548639" y="0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9460" y="1407480"/>
              <a:ext cx="654040" cy="1054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852159" y="1440180"/>
              <a:ext cx="548640" cy="0"/>
            </a:xfrm>
            <a:custGeom>
              <a:avLst/>
              <a:gdLst/>
              <a:ahLst/>
              <a:cxnLst/>
              <a:rect l="l" t="t" r="r" b="b"/>
              <a:pathLst>
                <a:path w="548639">
                  <a:moveTo>
                    <a:pt x="0" y="0"/>
                  </a:moveTo>
                  <a:lnTo>
                    <a:pt x="548639" y="0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16780" y="1704660"/>
              <a:ext cx="105400" cy="37972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269479" y="173736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h="274319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6620" y="1978980"/>
              <a:ext cx="1385560" cy="42544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89319" y="2011680"/>
              <a:ext cx="1280160" cy="320040"/>
            </a:xfrm>
            <a:custGeom>
              <a:avLst/>
              <a:gdLst/>
              <a:ahLst/>
              <a:cxnLst/>
              <a:rect l="l" t="t" r="r" b="b"/>
              <a:pathLst>
                <a:path w="1280159" h="320039">
                  <a:moveTo>
                    <a:pt x="1280159" y="0"/>
                  </a:moveTo>
                  <a:lnTo>
                    <a:pt x="0" y="32003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62100" y="2596200"/>
              <a:ext cx="836920" cy="1054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19100" y="2893380"/>
              <a:ext cx="1156960" cy="69976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971799" y="2926080"/>
              <a:ext cx="1051560" cy="594360"/>
            </a:xfrm>
            <a:custGeom>
              <a:avLst/>
              <a:gdLst/>
              <a:ahLst/>
              <a:cxnLst/>
              <a:rect l="l" t="t" r="r" b="b"/>
              <a:pathLst>
                <a:path w="1051560" h="594360">
                  <a:moveTo>
                    <a:pt x="0" y="0"/>
                  </a:moveTo>
                  <a:lnTo>
                    <a:pt x="1051559" y="5943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50820" y="2893380"/>
              <a:ext cx="791200" cy="69976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303519" y="2926080"/>
              <a:ext cx="685800" cy="594360"/>
            </a:xfrm>
            <a:custGeom>
              <a:avLst/>
              <a:gdLst/>
              <a:ahLst/>
              <a:cxnLst/>
              <a:rect l="l" t="t" r="r" b="b"/>
              <a:pathLst>
                <a:path w="685800" h="594360">
                  <a:moveTo>
                    <a:pt x="685799" y="0"/>
                  </a:moveTo>
                  <a:lnTo>
                    <a:pt x="0" y="5943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824037" y="2326957"/>
          <a:ext cx="5303519" cy="593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9240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Assign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grades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grade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points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B w="28575">
                      <a:solidFill>
                        <a:srgbClr val="4F81BD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3180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Calculate</a:t>
                      </a:r>
                      <a:r>
                        <a:rPr sz="13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GPA</a:t>
                      </a:r>
                      <a:r>
                        <a:rPr sz="13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3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CGPA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28575">
                      <a:solidFill>
                        <a:srgbClr val="4F81BD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8" name="object 38"/>
          <p:cNvGrpSpPr/>
          <p:nvPr/>
        </p:nvGrpSpPr>
        <p:grpSpPr>
          <a:xfrm>
            <a:off x="3338517" y="3498677"/>
            <a:ext cx="2558415" cy="683895"/>
            <a:chOff x="3338517" y="3498677"/>
            <a:chExt cx="2558415" cy="683895"/>
          </a:xfrm>
        </p:grpSpPr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38517" y="3498677"/>
              <a:ext cx="2558405" cy="68388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83279" y="3520439"/>
              <a:ext cx="2468879" cy="594359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3338517" y="4641677"/>
            <a:ext cx="2558415" cy="683895"/>
            <a:chOff x="3338517" y="4641677"/>
            <a:chExt cx="2558415" cy="683895"/>
          </a:xfrm>
        </p:grpSpPr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38517" y="4641677"/>
              <a:ext cx="2558405" cy="68388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83279" y="4663439"/>
              <a:ext cx="2468879" cy="594359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3338517" y="5601797"/>
            <a:ext cx="2558415" cy="683895"/>
            <a:chOff x="3338517" y="5601797"/>
            <a:chExt cx="2558415" cy="683895"/>
          </a:xfrm>
        </p:grpSpPr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38517" y="5601797"/>
              <a:ext cx="2558405" cy="68388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83279" y="5623559"/>
              <a:ext cx="2468879" cy="59435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83279" y="5623559"/>
              <a:ext cx="2468880" cy="594360"/>
            </a:xfrm>
            <a:custGeom>
              <a:avLst/>
              <a:gdLst/>
              <a:ahLst/>
              <a:cxnLst/>
              <a:rect l="l" t="t" r="r" b="b"/>
              <a:pathLst>
                <a:path w="2468879" h="594360">
                  <a:moveTo>
                    <a:pt x="397192" y="0"/>
                  </a:moveTo>
                  <a:lnTo>
                    <a:pt x="2071687" y="0"/>
                  </a:lnTo>
                  <a:lnTo>
                    <a:pt x="2125584" y="2712"/>
                  </a:lnTo>
                  <a:lnTo>
                    <a:pt x="2177276" y="10615"/>
                  </a:lnTo>
                  <a:lnTo>
                    <a:pt x="2226292" y="23353"/>
                  </a:lnTo>
                  <a:lnTo>
                    <a:pt x="2272158" y="40573"/>
                  </a:lnTo>
                  <a:lnTo>
                    <a:pt x="2314399" y="61921"/>
                  </a:lnTo>
                  <a:lnTo>
                    <a:pt x="2352544" y="87041"/>
                  </a:lnTo>
                  <a:lnTo>
                    <a:pt x="2386119" y="115582"/>
                  </a:lnTo>
                  <a:lnTo>
                    <a:pt x="2414651" y="147187"/>
                  </a:lnTo>
                  <a:lnTo>
                    <a:pt x="2437666" y="181504"/>
                  </a:lnTo>
                  <a:lnTo>
                    <a:pt x="2454691" y="218177"/>
                  </a:lnTo>
                  <a:lnTo>
                    <a:pt x="2465254" y="256854"/>
                  </a:lnTo>
                  <a:lnTo>
                    <a:pt x="2468879" y="297179"/>
                  </a:lnTo>
                  <a:lnTo>
                    <a:pt x="2465254" y="337505"/>
                  </a:lnTo>
                  <a:lnTo>
                    <a:pt x="2454691" y="376182"/>
                  </a:lnTo>
                  <a:lnTo>
                    <a:pt x="2437666" y="412855"/>
                  </a:lnTo>
                  <a:lnTo>
                    <a:pt x="2414651" y="447172"/>
                  </a:lnTo>
                  <a:lnTo>
                    <a:pt x="2386119" y="478777"/>
                  </a:lnTo>
                  <a:lnTo>
                    <a:pt x="2352544" y="507317"/>
                  </a:lnTo>
                  <a:lnTo>
                    <a:pt x="2314399" y="532438"/>
                  </a:lnTo>
                  <a:lnTo>
                    <a:pt x="2272158" y="553786"/>
                  </a:lnTo>
                  <a:lnTo>
                    <a:pt x="2226292" y="571006"/>
                  </a:lnTo>
                  <a:lnTo>
                    <a:pt x="2177276" y="583744"/>
                  </a:lnTo>
                  <a:lnTo>
                    <a:pt x="2125584" y="591647"/>
                  </a:lnTo>
                  <a:lnTo>
                    <a:pt x="2071687" y="594359"/>
                  </a:lnTo>
                  <a:lnTo>
                    <a:pt x="397192" y="594359"/>
                  </a:lnTo>
                  <a:lnTo>
                    <a:pt x="343295" y="591647"/>
                  </a:lnTo>
                  <a:lnTo>
                    <a:pt x="291602" y="583744"/>
                  </a:lnTo>
                  <a:lnTo>
                    <a:pt x="242587" y="571006"/>
                  </a:lnTo>
                  <a:lnTo>
                    <a:pt x="196721" y="553786"/>
                  </a:lnTo>
                  <a:lnTo>
                    <a:pt x="154479" y="532438"/>
                  </a:lnTo>
                  <a:lnTo>
                    <a:pt x="116334" y="507317"/>
                  </a:lnTo>
                  <a:lnTo>
                    <a:pt x="82760" y="478777"/>
                  </a:lnTo>
                  <a:lnTo>
                    <a:pt x="54228" y="447172"/>
                  </a:lnTo>
                  <a:lnTo>
                    <a:pt x="31213" y="412855"/>
                  </a:lnTo>
                  <a:lnTo>
                    <a:pt x="14188" y="376182"/>
                  </a:lnTo>
                  <a:lnTo>
                    <a:pt x="3625" y="337505"/>
                  </a:lnTo>
                  <a:lnTo>
                    <a:pt x="0" y="297179"/>
                  </a:lnTo>
                  <a:lnTo>
                    <a:pt x="3625" y="256854"/>
                  </a:lnTo>
                  <a:lnTo>
                    <a:pt x="14188" y="218177"/>
                  </a:lnTo>
                  <a:lnTo>
                    <a:pt x="31213" y="181504"/>
                  </a:lnTo>
                  <a:lnTo>
                    <a:pt x="54228" y="147187"/>
                  </a:lnTo>
                  <a:lnTo>
                    <a:pt x="82760" y="115582"/>
                  </a:lnTo>
                  <a:lnTo>
                    <a:pt x="116334" y="87041"/>
                  </a:lnTo>
                  <a:lnTo>
                    <a:pt x="154479" y="61921"/>
                  </a:lnTo>
                  <a:lnTo>
                    <a:pt x="196721" y="40573"/>
                  </a:lnTo>
                  <a:lnTo>
                    <a:pt x="242587" y="23353"/>
                  </a:lnTo>
                  <a:lnTo>
                    <a:pt x="291602" y="10615"/>
                  </a:lnTo>
                  <a:lnTo>
                    <a:pt x="343295" y="2712"/>
                  </a:lnTo>
                  <a:lnTo>
                    <a:pt x="397192" y="0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4565020" y="4082100"/>
            <a:ext cx="105410" cy="1614170"/>
            <a:chOff x="4565020" y="4082100"/>
            <a:chExt cx="105410" cy="1614170"/>
          </a:xfrm>
        </p:grpSpPr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65020" y="4082100"/>
              <a:ext cx="105400" cy="65404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65020" y="5225100"/>
              <a:ext cx="105400" cy="471160"/>
            </a:xfrm>
            <a:prstGeom prst="rect">
              <a:avLst/>
            </a:prstGeom>
          </p:spPr>
        </p:pic>
      </p:grp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3378517" y="3515677"/>
          <a:ext cx="2468880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7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0068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charts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trends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F81BD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D"/>
                      </a:solidFill>
                      <a:prstDash val="solid"/>
                    </a:lnL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summary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F81BD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D"/>
                      </a:solidFill>
                      <a:prstDash val="solid"/>
                    </a:lnL>
                    <a:lnT w="9525">
                      <a:solidFill>
                        <a:srgbClr val="4A7DB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4465754" y="5794248"/>
            <a:ext cx="2990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Python</a:t>
            </a:r>
            <a:r>
              <a:rPr spc="-35" dirty="0"/>
              <a:t> </a:t>
            </a:r>
            <a:r>
              <a:rPr spc="-10" dirty="0"/>
              <a:t>Logic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5916" y="822961"/>
            <a:ext cx="6392166" cy="5425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70" dirty="0"/>
              <a:t> </a:t>
            </a:r>
            <a:r>
              <a:rPr dirty="0"/>
              <a:t>Graphical</a:t>
            </a:r>
            <a:r>
              <a:rPr spc="-70" dirty="0"/>
              <a:t> </a:t>
            </a:r>
            <a:r>
              <a:rPr dirty="0"/>
              <a:t>Representation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Working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100" y="1066800"/>
            <a:ext cx="5257799" cy="39156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1625" y="5276596"/>
            <a:ext cx="865378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Arial MT"/>
                <a:cs typeface="Arial MT"/>
              </a:rPr>
              <a:t>Working: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Input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validation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grade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calculation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GPA/CGPA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calculation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attendance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analysis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chart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generation</a:t>
            </a:r>
            <a:endParaRPr sz="1300">
              <a:latin typeface="Arial MT"/>
              <a:cs typeface="Arial MT"/>
            </a:endParaRPr>
          </a:p>
          <a:p>
            <a:pPr marL="58419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final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academic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dashboard.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Arial MT"/>
                <a:cs typeface="Arial MT"/>
              </a:rPr>
              <a:t>Illustrative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values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demonstrate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intended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visualization.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6075" y="276454"/>
            <a:ext cx="49415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60" dirty="0"/>
              <a:t> </a:t>
            </a:r>
            <a:r>
              <a:rPr dirty="0"/>
              <a:t>GitHub</a:t>
            </a:r>
            <a:r>
              <a:rPr spc="-60" dirty="0"/>
              <a:t> </a:t>
            </a:r>
            <a:r>
              <a:rPr dirty="0"/>
              <a:t>Account,</a:t>
            </a:r>
            <a:r>
              <a:rPr spc="-60" dirty="0"/>
              <a:t> </a:t>
            </a:r>
            <a:r>
              <a:rPr dirty="0"/>
              <a:t>Repository</a:t>
            </a:r>
            <a:r>
              <a:rPr spc="-55" dirty="0"/>
              <a:t> </a:t>
            </a:r>
            <a:r>
              <a:rPr spc="-50" dirty="0"/>
              <a:t>&amp; </a:t>
            </a:r>
            <a:r>
              <a:rPr spc="-10" dirty="0"/>
              <a:t>Collaboration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851" y="1314010"/>
            <a:ext cx="7077075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482600" indent="-374015">
              <a:lnSpc>
                <a:spcPct val="100000"/>
              </a:lnSpc>
              <a:spcBef>
                <a:spcPts val="100"/>
              </a:spcBef>
              <a:buChar char="●"/>
              <a:tabLst>
                <a:tab pos="386080" algn="l"/>
              </a:tabLst>
            </a:pPr>
            <a:r>
              <a:rPr sz="1700" dirty="0">
                <a:latin typeface="Arial MT"/>
                <a:cs typeface="Arial MT"/>
              </a:rPr>
              <a:t>Create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GitHub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Account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Set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up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personal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GitHub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account. </a:t>
            </a:r>
            <a:r>
              <a:rPr sz="1700" dirty="0">
                <a:latin typeface="Arial MT"/>
                <a:cs typeface="Arial MT"/>
              </a:rPr>
              <a:t>Create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Repository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Intelligent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Academic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Performance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Tracker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&amp; </a:t>
            </a:r>
            <a:r>
              <a:rPr sz="1700" spc="-10" dirty="0">
                <a:latin typeface="Arial MT"/>
                <a:cs typeface="Arial MT"/>
              </a:rPr>
              <a:t>Visualizer.</a:t>
            </a:r>
            <a:endParaRPr sz="1700">
              <a:latin typeface="Arial MT"/>
              <a:cs typeface="Arial MT"/>
            </a:endParaRPr>
          </a:p>
          <a:p>
            <a:pPr marL="386080" marR="314960">
              <a:lnSpc>
                <a:spcPct val="100000"/>
              </a:lnSpc>
            </a:pPr>
            <a:r>
              <a:rPr sz="1700" dirty="0">
                <a:latin typeface="Arial MT"/>
                <a:cs typeface="Arial MT"/>
              </a:rPr>
              <a:t>Upload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Code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Upload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Python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source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code,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requirements,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spc="-10" dirty="0">
                <a:latin typeface="Arial MT"/>
                <a:cs typeface="Arial MT"/>
              </a:rPr>
              <a:t>README.</a:t>
            </a:r>
            <a:endParaRPr sz="1700">
              <a:latin typeface="Arial MT"/>
              <a:cs typeface="Arial MT"/>
            </a:endParaRPr>
          </a:p>
          <a:p>
            <a:pPr marL="386080" marR="288925">
              <a:lnSpc>
                <a:spcPct val="100000"/>
              </a:lnSpc>
            </a:pPr>
            <a:r>
              <a:rPr sz="1700" spc="-10" dirty="0">
                <a:latin typeface="Arial MT"/>
                <a:cs typeface="Arial MT"/>
              </a:rPr>
              <a:t>Meaningful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Commits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Save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changes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clear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messages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such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as </a:t>
            </a:r>
            <a:r>
              <a:rPr sz="1700" dirty="0">
                <a:latin typeface="Arial MT"/>
                <a:cs typeface="Arial MT"/>
              </a:rPr>
              <a:t>“Added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GPA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calculation”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“Added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charts”.</a:t>
            </a:r>
            <a:endParaRPr sz="1700">
              <a:latin typeface="Arial MT"/>
              <a:cs typeface="Arial MT"/>
            </a:endParaRPr>
          </a:p>
          <a:p>
            <a:pPr marL="386080" marR="292735">
              <a:lnSpc>
                <a:spcPct val="100000"/>
              </a:lnSpc>
            </a:pPr>
            <a:r>
              <a:rPr sz="1700" spc="-10" dirty="0">
                <a:latin typeface="Arial MT"/>
                <a:cs typeface="Arial MT"/>
              </a:rPr>
              <a:t>Collaboration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teamwork,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repository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sharing,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branches,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or </a:t>
            </a:r>
            <a:r>
              <a:rPr sz="1700" dirty="0">
                <a:latin typeface="Arial MT"/>
                <a:cs typeface="Arial MT"/>
              </a:rPr>
              <a:t>pull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requests.</a:t>
            </a:r>
            <a:endParaRPr sz="1700">
              <a:latin typeface="Arial MT"/>
              <a:cs typeface="Arial MT"/>
            </a:endParaRPr>
          </a:p>
          <a:p>
            <a:pPr marL="386080" marR="84455">
              <a:lnSpc>
                <a:spcPct val="100000"/>
              </a:lnSpc>
            </a:pPr>
            <a:r>
              <a:rPr sz="1700" spc="-10" dirty="0">
                <a:latin typeface="Arial MT"/>
                <a:cs typeface="Arial MT"/>
              </a:rPr>
              <a:t>Individual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Contribution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Each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member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contributes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commits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their work.</a:t>
            </a:r>
            <a:endParaRPr sz="1700">
              <a:latin typeface="Arial MT"/>
              <a:cs typeface="Arial MT"/>
            </a:endParaRPr>
          </a:p>
          <a:p>
            <a:pPr marL="386080" marR="5080">
              <a:lnSpc>
                <a:spcPct val="100000"/>
              </a:lnSpc>
            </a:pPr>
            <a:r>
              <a:rPr sz="1700" dirty="0">
                <a:latin typeface="Arial MT"/>
                <a:cs typeface="Arial MT"/>
              </a:rPr>
              <a:t>Track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Changes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GitHub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manage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versions,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issues,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project updates.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spc="-100" dirty="0"/>
              <a:t> </a:t>
            </a:r>
            <a:r>
              <a:rPr dirty="0"/>
              <a:t>Individual</a:t>
            </a:r>
            <a:r>
              <a:rPr spc="-100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791210" indent="-374015">
              <a:lnSpc>
                <a:spcPct val="100000"/>
              </a:lnSpc>
              <a:spcBef>
                <a:spcPts val="100"/>
              </a:spcBef>
              <a:buChar char="●"/>
              <a:tabLst>
                <a:tab pos="386080" algn="l"/>
              </a:tabLst>
            </a:pPr>
            <a:r>
              <a:rPr dirty="0"/>
              <a:t>Problem</a:t>
            </a:r>
            <a:r>
              <a:rPr spc="-45" dirty="0"/>
              <a:t> </a:t>
            </a:r>
            <a:r>
              <a:rPr dirty="0"/>
              <a:t>Analysis</a:t>
            </a:r>
            <a:r>
              <a:rPr spc="-4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10" dirty="0"/>
              <a:t>Identified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need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spc="-10" dirty="0"/>
              <a:t>automated </a:t>
            </a:r>
            <a:r>
              <a:rPr dirty="0"/>
              <a:t>academic</a:t>
            </a:r>
            <a:r>
              <a:rPr spc="-60" dirty="0"/>
              <a:t> </a:t>
            </a:r>
            <a:r>
              <a:rPr spc="-10" dirty="0"/>
              <a:t>performance</a:t>
            </a:r>
            <a:r>
              <a:rPr spc="-60" dirty="0"/>
              <a:t> </a:t>
            </a:r>
            <a:r>
              <a:rPr spc="-10" dirty="0"/>
              <a:t>tracker.</a:t>
            </a:r>
          </a:p>
          <a:p>
            <a:pPr marL="386080" marR="5080">
              <a:lnSpc>
                <a:spcPct val="100000"/>
              </a:lnSpc>
            </a:pP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Design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Planned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structure</a:t>
            </a:r>
            <a:r>
              <a:rPr spc="-6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subjects,</a:t>
            </a:r>
            <a:r>
              <a:rPr spc="-65" dirty="0"/>
              <a:t> </a:t>
            </a:r>
            <a:r>
              <a:rPr dirty="0"/>
              <a:t>marks,</a:t>
            </a:r>
            <a:r>
              <a:rPr spc="-60" dirty="0"/>
              <a:t> </a:t>
            </a:r>
            <a:r>
              <a:rPr spc="-10" dirty="0"/>
              <a:t>credits, attendance,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semesters.</a:t>
            </a:r>
          </a:p>
          <a:p>
            <a:pPr marL="386080" marR="458470">
              <a:lnSpc>
                <a:spcPct val="100000"/>
              </a:lnSpc>
            </a:pPr>
            <a:r>
              <a:rPr dirty="0"/>
              <a:t>Python</a:t>
            </a:r>
            <a:r>
              <a:rPr spc="-75" dirty="0"/>
              <a:t> </a:t>
            </a:r>
            <a:r>
              <a:rPr dirty="0"/>
              <a:t>Coding</a:t>
            </a:r>
            <a:r>
              <a:rPr spc="-70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spc="-10" dirty="0"/>
              <a:t>Implemented</a:t>
            </a:r>
            <a:r>
              <a:rPr spc="-70" dirty="0"/>
              <a:t> </a:t>
            </a:r>
            <a:r>
              <a:rPr dirty="0"/>
              <a:t>input</a:t>
            </a:r>
            <a:r>
              <a:rPr spc="-70" dirty="0"/>
              <a:t> </a:t>
            </a:r>
            <a:r>
              <a:rPr dirty="0"/>
              <a:t>handling,</a:t>
            </a:r>
            <a:r>
              <a:rPr spc="-70" dirty="0"/>
              <a:t> </a:t>
            </a:r>
            <a:r>
              <a:rPr dirty="0"/>
              <a:t>grading</a:t>
            </a:r>
            <a:r>
              <a:rPr spc="-70" dirty="0"/>
              <a:t> </a:t>
            </a:r>
            <a:r>
              <a:rPr spc="-10" dirty="0"/>
              <a:t>logic, GPA/CGPA</a:t>
            </a:r>
            <a:r>
              <a:rPr spc="-45" dirty="0"/>
              <a:t> </a:t>
            </a:r>
            <a:r>
              <a:rPr spc="-10" dirty="0"/>
              <a:t>calculations,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validation.</a:t>
            </a:r>
          </a:p>
          <a:p>
            <a:pPr marL="386080" marR="60325">
              <a:lnSpc>
                <a:spcPct val="100000"/>
              </a:lnSpc>
            </a:pPr>
            <a:r>
              <a:rPr spc="-10" dirty="0"/>
              <a:t>Visualization</a:t>
            </a:r>
            <a:r>
              <a:rPr spc="-4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Created</a:t>
            </a:r>
            <a:r>
              <a:rPr spc="-35" dirty="0"/>
              <a:t> </a:t>
            </a:r>
            <a:r>
              <a:rPr spc="-20" dirty="0"/>
              <a:t>subject-</a:t>
            </a:r>
            <a:r>
              <a:rPr dirty="0"/>
              <a:t>wise</a:t>
            </a:r>
            <a:r>
              <a:rPr spc="-40" dirty="0"/>
              <a:t> </a:t>
            </a:r>
            <a:r>
              <a:rPr spc="-10" dirty="0"/>
              <a:t>performance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semester </a:t>
            </a:r>
            <a:r>
              <a:rPr dirty="0"/>
              <a:t>trend</a:t>
            </a:r>
            <a:r>
              <a:rPr spc="-65" dirty="0"/>
              <a:t> </a:t>
            </a:r>
            <a:r>
              <a:rPr spc="-10" dirty="0"/>
              <a:t>charts.</a:t>
            </a:r>
          </a:p>
          <a:p>
            <a:pPr marL="386080" marR="76200">
              <a:lnSpc>
                <a:spcPct val="100000"/>
              </a:lnSpc>
            </a:pPr>
            <a:r>
              <a:rPr dirty="0"/>
              <a:t>Testing</a:t>
            </a:r>
            <a:r>
              <a:rPr spc="-75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dirty="0"/>
              <a:t>Tested</a:t>
            </a:r>
            <a:r>
              <a:rPr spc="-75" dirty="0"/>
              <a:t> </a:t>
            </a:r>
            <a:r>
              <a:rPr dirty="0"/>
              <a:t>calculations</a:t>
            </a:r>
            <a:r>
              <a:rPr spc="-70" dirty="0"/>
              <a:t> </a:t>
            </a:r>
            <a:r>
              <a:rPr dirty="0"/>
              <a:t>using</a:t>
            </a:r>
            <a:r>
              <a:rPr spc="-75" dirty="0"/>
              <a:t> </a:t>
            </a:r>
            <a:r>
              <a:rPr dirty="0"/>
              <a:t>different</a:t>
            </a:r>
            <a:r>
              <a:rPr spc="-70" dirty="0"/>
              <a:t> </a:t>
            </a:r>
            <a:r>
              <a:rPr dirty="0"/>
              <a:t>marks,</a:t>
            </a:r>
            <a:r>
              <a:rPr spc="-75" dirty="0"/>
              <a:t> </a:t>
            </a:r>
            <a:r>
              <a:rPr dirty="0"/>
              <a:t>credits,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attendance</a:t>
            </a:r>
            <a:r>
              <a:rPr spc="-35" dirty="0"/>
              <a:t> </a:t>
            </a:r>
            <a:r>
              <a:rPr spc="-10" dirty="0"/>
              <a:t>values.</a:t>
            </a:r>
          </a:p>
          <a:p>
            <a:pPr marL="386080" marR="443865">
              <a:lnSpc>
                <a:spcPct val="100000"/>
              </a:lnSpc>
            </a:pPr>
            <a:r>
              <a:rPr dirty="0"/>
              <a:t>GitHub</a:t>
            </a:r>
            <a:r>
              <a:rPr spc="-60" dirty="0"/>
              <a:t> </a:t>
            </a:r>
            <a:r>
              <a:rPr spc="-10" dirty="0"/>
              <a:t>Contribution</a:t>
            </a:r>
            <a:r>
              <a:rPr spc="-6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Uploaded</a:t>
            </a:r>
            <a:r>
              <a:rPr spc="-60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made</a:t>
            </a:r>
            <a:r>
              <a:rPr spc="-60" dirty="0"/>
              <a:t> </a:t>
            </a:r>
            <a:r>
              <a:rPr spc="-10" dirty="0"/>
              <a:t>meaningful commits.</a:t>
            </a:r>
          </a:p>
          <a:p>
            <a:pPr marL="386080" marR="301625">
              <a:lnSpc>
                <a:spcPct val="100000"/>
              </a:lnSpc>
            </a:pPr>
            <a:r>
              <a:rPr spc="-10" dirty="0"/>
              <a:t>Documentation</a:t>
            </a:r>
            <a:r>
              <a:rPr spc="-5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dirty="0"/>
              <a:t>PPT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Prepared</a:t>
            </a:r>
            <a:r>
              <a:rPr spc="-55" dirty="0"/>
              <a:t> </a:t>
            </a:r>
            <a:r>
              <a:rPr dirty="0"/>
              <a:t>project</a:t>
            </a:r>
            <a:r>
              <a:rPr spc="-50" dirty="0"/>
              <a:t> </a:t>
            </a:r>
            <a:r>
              <a:rPr spc="-10" dirty="0"/>
              <a:t>documentation</a:t>
            </a:r>
            <a:r>
              <a:rPr spc="-55" dirty="0"/>
              <a:t> </a:t>
            </a:r>
            <a:r>
              <a:rPr spc="-25" dirty="0"/>
              <a:t>and </a:t>
            </a:r>
            <a:r>
              <a:rPr spc="-10" dirty="0"/>
              <a:t>presentation</a:t>
            </a:r>
            <a:r>
              <a:rPr spc="-35" dirty="0"/>
              <a:t> </a:t>
            </a:r>
            <a:r>
              <a:rPr spc="-10" dirty="0"/>
              <a:t>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spc="-25" dirty="0"/>
              <a:t> </a:t>
            </a:r>
            <a:r>
              <a:rPr dirty="0"/>
              <a:t>Result</a:t>
            </a:r>
            <a:r>
              <a:rPr spc="-20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Expected</a:t>
            </a:r>
            <a:r>
              <a:rPr spc="-20" dirty="0"/>
              <a:t> </a:t>
            </a:r>
            <a:r>
              <a:rPr spc="-10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47800"/>
            <a:ext cx="4875762" cy="33529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dirty="0"/>
              <a:t>1. Phase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18388" y="1202771"/>
            <a:ext cx="6525259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9890" indent="-377825">
              <a:spcBef>
                <a:spcPts val="1400"/>
              </a:spcBef>
              <a:buChar char="●"/>
            </a:pPr>
            <a:r>
              <a:rPr sz="1800" b="0">
                <a:latin typeface="Arial MT"/>
              </a:rPr>
              <a:t>Problem: manually calculating grades, GPA/CGPA and attendance is slow and error-prone.</a:t>
            </a:r>
          </a:p>
          <a:p>
            <a:pPr marL="389890" indent="-377825">
              <a:spcBef>
                <a:spcPts val="1400"/>
              </a:spcBef>
              <a:buChar char="●"/>
            </a:pPr>
            <a:r>
              <a:rPr sz="1800" b="0">
                <a:latin typeface="Arial MT"/>
              </a:rPr>
              <a:t>Objective: a Python application that calculates results and visualizes academic performance.</a:t>
            </a:r>
          </a:p>
          <a:p>
            <a:pPr marL="389890" indent="-377825">
              <a:spcBef>
                <a:spcPts val="1400"/>
              </a:spcBef>
              <a:buChar char="●"/>
            </a:pPr>
            <a:r>
              <a:rPr sz="1800" b="0">
                <a:latin typeface="Arial MT"/>
              </a:rPr>
              <a:t>Phase 1 completed: problem statement, algorithm, flowchart, Python logic, sample chart and GitHub repository.</a:t>
            </a:r>
          </a:p>
          <a:p>
            <a:pPr marL="389890" indent="-377825">
              <a:spcBef>
                <a:spcPts val="1400"/>
              </a:spcBef>
              <a:buChar char="●"/>
            </a:pPr>
            <a:r>
              <a:rPr sz="1800" b="0">
                <a:latin typeface="Arial MT"/>
              </a:rPr>
              <a:t>Phase 2 focus: working modules, code implementation, visualization output and GitHub collaboration.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25E0C-8E71-3A2C-278F-47F2CBCE5E2F}"/>
              </a:ext>
            </a:extLst>
          </p:cNvPr>
          <p:cNvSpPr txBox="1"/>
          <p:nvPr/>
        </p:nvSpPr>
        <p:spPr>
          <a:xfrm>
            <a:off x="1219200" y="771086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recap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Progress (Work Done ~70%)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 MT"/>
                        </a:rPr>
                        <a:t>Module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 MT"/>
                        </a:rPr>
                        <a:t>Work Done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 MT"/>
                        </a:rPr>
                        <a:t>Status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Input &amp;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Student, marks, credits and attendance entry with range checks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Grade &amp; GPA Engine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Grades, grade points, semester GPA and CGPA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Attendance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Attendance % and eligibility status per subject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Visualization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Subject-wise bar chart and semester GPA trend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Data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Saving and loading academic records in CSV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Summary Report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Final dashboard and report export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Pending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9890" indent="-377825">
              <a:spcBef>
                <a:spcPts val="900"/>
              </a:spcBef>
              <a:buChar char="●"/>
            </a:pPr>
            <a:r>
              <a:rPr sz="1600" b="0">
                <a:latin typeface="Arial MT"/>
              </a:rPr>
              <a:t>Modular design: each file has one responsibility, which makes testing and collaboration easier.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3503EA-170F-C1F4-71A8-D670DA45A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8519" r="10000" b="10000"/>
          <a:stretch>
            <a:fillRect/>
          </a:stretch>
        </p:blipFill>
        <p:spPr>
          <a:xfrm>
            <a:off x="445087" y="876694"/>
            <a:ext cx="8253826" cy="51431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lang="en-US" dirty="0"/>
              <a:t>4</a:t>
            </a:r>
            <a:r>
              <a:rPr dirty="0"/>
              <a:t>. Testing, Challenges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88" y="1202771"/>
            <a:ext cx="6525259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sz="1600" b="1">
                <a:latin typeface="Arial MT"/>
              </a:rPr>
              <a:t>Testing done so far</a:t>
            </a:r>
          </a:p>
          <a:p>
            <a:pPr marL="389890" indent="-377825">
              <a:spcBef>
                <a:spcPts val="700"/>
              </a:spcBef>
              <a:buChar char="●"/>
            </a:pPr>
            <a:r>
              <a:rPr sz="1600" b="0">
                <a:latin typeface="Arial MT"/>
              </a:rPr>
              <a:t>GPA/CGPA checked against manual calculations with different marks and credits.</a:t>
            </a:r>
          </a:p>
          <a:p>
            <a:pPr marL="389890" indent="-377825">
              <a:spcBef>
                <a:spcPts val="700"/>
              </a:spcBef>
              <a:buChar char="●"/>
            </a:pPr>
            <a:r>
              <a:rPr sz="1600" b="0">
                <a:latin typeface="Arial MT"/>
              </a:rPr>
              <a:t>Invalid inputs (negative marks, attendance above 100) handled by validation.</a:t>
            </a:r>
          </a:p>
          <a:p>
            <a:pPr marL="0" indent="0">
              <a:spcBef>
                <a:spcPts val="700"/>
              </a:spcBef>
              <a:buNone/>
            </a:pPr>
            <a:r>
              <a:rPr sz="1600" b="1">
                <a:latin typeface="Arial MT"/>
              </a:rPr>
              <a:t>Challenges faced</a:t>
            </a:r>
          </a:p>
          <a:p>
            <a:pPr marL="389890" indent="-377825">
              <a:spcBef>
                <a:spcPts val="700"/>
              </a:spcBef>
              <a:buChar char="●"/>
            </a:pPr>
            <a:r>
              <a:rPr sz="1600" b="0">
                <a:latin typeface="Arial MT"/>
              </a:rPr>
              <a:t>Handling different credit values while computing weighted GPA and CGPA.</a:t>
            </a:r>
          </a:p>
          <a:p>
            <a:pPr marL="0" indent="0">
              <a:spcBef>
                <a:spcPts val="700"/>
              </a:spcBef>
              <a:buNone/>
            </a:pPr>
            <a:r>
              <a:rPr sz="1600" b="1">
                <a:latin typeface="Arial MT"/>
              </a:rPr>
              <a:t>Phase 3 plan</a:t>
            </a:r>
          </a:p>
          <a:p>
            <a:pPr marL="389890" indent="-377825">
              <a:spcBef>
                <a:spcPts val="700"/>
              </a:spcBef>
              <a:buChar char="●"/>
            </a:pPr>
            <a:r>
              <a:rPr sz="1600" b="0">
                <a:latin typeface="Arial MT"/>
              </a:rPr>
              <a:t>Finish CSV storage and report export, complete final testing and deploy the project.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70C0"/>
                </a:solidFill>
                <a:latin typeface="Times New Roman"/>
                <a:cs typeface="Times New Roman"/>
              </a:rPr>
              <a:t>Thank</a:t>
            </a:r>
            <a:r>
              <a:rPr sz="3200" spc="-25" dirty="0">
                <a:solidFill>
                  <a:srgbClr val="0070C0"/>
                </a:solidFill>
                <a:latin typeface="Times New Roman"/>
                <a:cs typeface="Times New Roman"/>
              </a:rPr>
              <a:t> You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7419" y="3306414"/>
            <a:ext cx="4826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Intelligent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Academic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Performance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Tracker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&amp; </a:t>
            </a:r>
            <a:r>
              <a:rPr sz="1800" b="1" spc="-10" dirty="0">
                <a:latin typeface="Arial"/>
                <a:cs typeface="Arial"/>
              </a:rPr>
              <a:t>Visualizer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921</Words>
  <Application>Microsoft Office PowerPoint</Application>
  <PresentationFormat>On-screen Show (4:3)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MT</vt:lpstr>
      <vt:lpstr>Calibri</vt:lpstr>
      <vt:lpstr>Times New Roman</vt:lpstr>
      <vt:lpstr>Office Theme</vt:lpstr>
      <vt:lpstr>   “IntelligentAcademicPerformance</vt:lpstr>
      <vt:lpstr>Contents</vt:lpstr>
      <vt:lpstr>1. Problem Statement</vt:lpstr>
      <vt:lpstr>2. Objective</vt:lpstr>
      <vt:lpstr>3. Algorithm</vt:lpstr>
      <vt:lpstr>4. Flowchart</vt:lpstr>
      <vt:lpstr>5. Understanding of Python Logic</vt:lpstr>
      <vt:lpstr>6. Graphical Representation and Working</vt:lpstr>
      <vt:lpstr>7. GitHub Account, Repository &amp; Collaboration</vt:lpstr>
      <vt:lpstr>8. Individual Contribution</vt:lpstr>
      <vt:lpstr>9. Result / Expected Output</vt:lpstr>
      <vt:lpstr>1. Phase 2</vt:lpstr>
      <vt:lpstr>2. Project Progress (Work Done ~70%)</vt:lpstr>
      <vt:lpstr>3. Project Structure</vt:lpstr>
      <vt:lpstr>4. Testing, Challenges &amp;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Diggaj Turkar</dc:creator>
  <cp:lastModifiedBy>Diggaj Turkar</cp:lastModifiedBy>
  <cp:revision>1</cp:revision>
  <dcterms:created xsi:type="dcterms:W3CDTF">2026-09-23T14:46:37Z</dcterms:created>
  <dcterms:modified xsi:type="dcterms:W3CDTF">2026-09-23T15:50:50Z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2026-09-23T00:00:00Z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2026-09-23T00:00:00Z</vt:filetime>
  </property>
</Properties>
</file>