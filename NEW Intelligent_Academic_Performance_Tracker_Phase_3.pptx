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7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70" r:id="rId14"/>
    <p:sldId id="271" r:id="rId15"/>
    <p:sldId id="276" r:id="rId16"/>
    <p:sldId id="284" r:id="rId17"/>
    <p:sldId id="278" r:id="rId18"/>
    <p:sldId id="279" r:id="rId19"/>
    <p:sldId id="280" r:id="rId20"/>
    <p:sldId id="282" r:id="rId21"/>
    <p:sldId id="283" r:id="rId22"/>
    <p:sldId id="281" r:id="rId23"/>
    <p:sldId id="267" r:id="rId24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1" autoAdjust="0"/>
    <p:restoredTop sz="94660"/>
  </p:normalViewPr>
  <p:slideViewPr>
    <p:cSldViewPr>
      <p:cViewPr varScale="1">
        <p:scale>
          <a:sx n="94" d="100"/>
          <a:sy n="94" d="100"/>
        </p:scale>
        <p:origin x="2034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74639" y="2093005"/>
            <a:ext cx="2002154" cy="5130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7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6050" y="6390640"/>
            <a:ext cx="8832850" cy="309880"/>
          </a:xfrm>
          <a:custGeom>
            <a:avLst/>
            <a:gdLst/>
            <a:ahLst/>
            <a:cxnLst/>
            <a:rect l="l" t="t" r="r" b="b"/>
            <a:pathLst>
              <a:path w="8832850" h="309879">
                <a:moveTo>
                  <a:pt x="8832849" y="309880"/>
                </a:moveTo>
                <a:lnTo>
                  <a:pt x="0" y="309880"/>
                </a:lnTo>
                <a:lnTo>
                  <a:pt x="0" y="0"/>
                </a:lnTo>
                <a:lnTo>
                  <a:pt x="8832849" y="0"/>
                </a:lnTo>
                <a:lnTo>
                  <a:pt x="8832849" y="309880"/>
                </a:lnTo>
                <a:close/>
              </a:path>
            </a:pathLst>
          </a:custGeom>
          <a:solidFill>
            <a:srgbClr val="8BABA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52400" y="158750"/>
            <a:ext cx="8832850" cy="6546850"/>
          </a:xfrm>
          <a:custGeom>
            <a:avLst/>
            <a:gdLst/>
            <a:ahLst/>
            <a:cxnLst/>
            <a:rect l="l" t="t" r="r" b="b"/>
            <a:pathLst>
              <a:path w="8832850" h="6546850">
                <a:moveTo>
                  <a:pt x="4415788" y="6546849"/>
                </a:moveTo>
                <a:lnTo>
                  <a:pt x="0" y="6546849"/>
                </a:lnTo>
                <a:lnTo>
                  <a:pt x="0" y="0"/>
                </a:lnTo>
                <a:lnTo>
                  <a:pt x="8832849" y="0"/>
                </a:lnTo>
                <a:lnTo>
                  <a:pt x="8832849" y="6546849"/>
                </a:lnTo>
                <a:lnTo>
                  <a:pt x="4415788" y="6546849"/>
                </a:lnTo>
                <a:close/>
              </a:path>
            </a:pathLst>
          </a:custGeom>
          <a:ln w="9524">
            <a:solidFill>
              <a:srgbClr val="789798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85374" y="317894"/>
            <a:ext cx="6243320" cy="406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101851" y="1426572"/>
            <a:ext cx="6560184" cy="36525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7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18" Type="http://schemas.openxmlformats.org/officeDocument/2006/relationships/image" Target="../media/image18.png"/><Relationship Id="rId3" Type="http://schemas.openxmlformats.org/officeDocument/2006/relationships/image" Target="../media/image3.png"/><Relationship Id="rId21" Type="http://schemas.openxmlformats.org/officeDocument/2006/relationships/image" Target="../media/image21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17" Type="http://schemas.openxmlformats.org/officeDocument/2006/relationships/image" Target="../media/image17.png"/><Relationship Id="rId2" Type="http://schemas.openxmlformats.org/officeDocument/2006/relationships/image" Target="../media/image2.png"/><Relationship Id="rId16" Type="http://schemas.openxmlformats.org/officeDocument/2006/relationships/image" Target="../media/image16.png"/><Relationship Id="rId20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5" Type="http://schemas.openxmlformats.org/officeDocument/2006/relationships/image" Target="../media/image15.png"/><Relationship Id="rId10" Type="http://schemas.openxmlformats.org/officeDocument/2006/relationships/image" Target="../media/image10.png"/><Relationship Id="rId19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9.png"/><Relationship Id="rId1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2074697" y="212161"/>
            <a:ext cx="4858385" cy="161326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153410">
              <a:lnSpc>
                <a:spcPct val="100000"/>
              </a:lnSpc>
            </a:pPr>
            <a:br>
              <a:rPr lang="en-IN" sz="2600" spc="-25" dirty="0">
                <a:latin typeface="Times New Roman"/>
                <a:cs typeface="Times New Roman"/>
              </a:rPr>
            </a:br>
            <a:br>
              <a:rPr lang="en-IN" sz="2600" spc="-25" dirty="0">
                <a:latin typeface="Times New Roman"/>
                <a:cs typeface="Times New Roman"/>
              </a:rPr>
            </a:br>
            <a:r>
              <a:rPr lang="en-IN" sz="2600" spc="-25" dirty="0">
                <a:latin typeface="Times New Roman"/>
                <a:cs typeface="Times New Roman"/>
              </a:rPr>
              <a:t> </a:t>
            </a:r>
            <a:r>
              <a:rPr lang="en-IN" sz="2600" spc="-10" dirty="0">
                <a:latin typeface="Times New Roman"/>
                <a:cs typeface="Times New Roman"/>
              </a:rPr>
              <a:t>“</a:t>
            </a:r>
            <a:r>
              <a:rPr lang="en-IN" sz="2600" spc="-10" dirty="0" err="1">
                <a:latin typeface="Times New Roman"/>
                <a:cs typeface="Times New Roman"/>
              </a:rPr>
              <a:t>IntelligentAcademicPerformance</a:t>
            </a:r>
            <a:endParaRPr lang="en-IN" sz="26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61473" y="1853944"/>
            <a:ext cx="6601459" cy="11258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49225" algn="ctr">
              <a:lnSpc>
                <a:spcPts val="3010"/>
              </a:lnSpc>
              <a:spcBef>
                <a:spcPts val="100"/>
              </a:spcBef>
            </a:pPr>
            <a:r>
              <a:rPr sz="2600" b="1" dirty="0">
                <a:latin typeface="Times New Roman"/>
                <a:cs typeface="Times New Roman"/>
              </a:rPr>
              <a:t>Tracker</a:t>
            </a:r>
            <a:r>
              <a:rPr sz="2600" b="1" spc="-20" dirty="0">
                <a:latin typeface="Times New Roman"/>
                <a:cs typeface="Times New Roman"/>
              </a:rPr>
              <a:t> </a:t>
            </a:r>
            <a:r>
              <a:rPr sz="2600" b="1" dirty="0">
                <a:latin typeface="Times New Roman"/>
                <a:cs typeface="Times New Roman"/>
              </a:rPr>
              <a:t>&amp;</a:t>
            </a:r>
            <a:r>
              <a:rPr sz="2600" b="1" spc="-15" dirty="0">
                <a:latin typeface="Times New Roman"/>
                <a:cs typeface="Times New Roman"/>
              </a:rPr>
              <a:t> </a:t>
            </a:r>
            <a:r>
              <a:rPr sz="2600" b="1" spc="-10" dirty="0">
                <a:latin typeface="Times New Roman"/>
                <a:cs typeface="Times New Roman"/>
              </a:rPr>
              <a:t>Visualizer”</a:t>
            </a:r>
            <a:endParaRPr sz="2600" dirty="0">
              <a:latin typeface="Times New Roman"/>
              <a:cs typeface="Times New Roman"/>
            </a:endParaRPr>
          </a:p>
          <a:p>
            <a:pPr algn="ctr">
              <a:lnSpc>
                <a:spcPts val="2770"/>
              </a:lnSpc>
            </a:pPr>
            <a:r>
              <a:rPr sz="2400" b="1" dirty="0">
                <a:solidFill>
                  <a:srgbClr val="0070C0"/>
                </a:solidFill>
                <a:latin typeface="Times New Roman"/>
                <a:cs typeface="Times New Roman"/>
              </a:rPr>
              <a:t>under</a:t>
            </a:r>
            <a:r>
              <a:rPr sz="2400" b="1" spc="-7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70C0"/>
                </a:solidFill>
                <a:latin typeface="Times New Roman"/>
                <a:cs typeface="Times New Roman"/>
              </a:rPr>
              <a:t>the</a:t>
            </a:r>
            <a:r>
              <a:rPr sz="2400" b="1" spc="-65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400" b="1" spc="-10" dirty="0">
                <a:solidFill>
                  <a:srgbClr val="0070C0"/>
                </a:solidFill>
                <a:latin typeface="Times New Roman"/>
                <a:cs typeface="Times New Roman"/>
              </a:rPr>
              <a:t>course</a:t>
            </a:r>
            <a:endParaRPr sz="2400" dirty="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</a:pPr>
            <a:r>
              <a:rPr sz="2400" b="1" dirty="0">
                <a:solidFill>
                  <a:srgbClr val="0070C0"/>
                </a:solidFill>
                <a:latin typeface="Times New Roman"/>
                <a:cs typeface="Times New Roman"/>
              </a:rPr>
              <a:t>Python</a:t>
            </a:r>
            <a:r>
              <a:rPr sz="2400" b="1" spc="-75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70C0"/>
                </a:solidFill>
                <a:latin typeface="Times New Roman"/>
                <a:cs typeface="Times New Roman"/>
              </a:rPr>
              <a:t>Programming</a:t>
            </a:r>
            <a:r>
              <a:rPr sz="2400" b="1" spc="-70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400" b="1" dirty="0">
                <a:solidFill>
                  <a:srgbClr val="0070C0"/>
                </a:solidFill>
                <a:latin typeface="Times New Roman"/>
                <a:cs typeface="Times New Roman"/>
              </a:rPr>
              <a:t>Language</a:t>
            </a:r>
            <a:r>
              <a:rPr sz="2400" b="1" spc="-75" dirty="0">
                <a:solidFill>
                  <a:srgbClr val="0070C0"/>
                </a:solidFill>
                <a:latin typeface="Times New Roman"/>
                <a:cs typeface="Times New Roman"/>
              </a:rPr>
              <a:t> </a:t>
            </a:r>
            <a:r>
              <a:rPr sz="2400" b="1" spc="-20" dirty="0">
                <a:solidFill>
                  <a:srgbClr val="0070C0"/>
                </a:solidFill>
                <a:latin typeface="Times New Roman"/>
                <a:cs typeface="Times New Roman"/>
              </a:rPr>
              <a:t>(N-</a:t>
            </a:r>
            <a:r>
              <a:rPr sz="2400" b="1" spc="-10" dirty="0">
                <a:solidFill>
                  <a:srgbClr val="0070C0"/>
                </a:solidFill>
                <a:latin typeface="Times New Roman"/>
                <a:cs typeface="Times New Roman"/>
              </a:rPr>
              <a:t>PCCCM304P)</a:t>
            </a:r>
            <a:endParaRPr sz="2400" dirty="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62000" y="3314188"/>
            <a:ext cx="1611630" cy="95250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algn="just">
              <a:lnSpc>
                <a:spcPct val="102099"/>
              </a:lnSpc>
              <a:spcBef>
                <a:spcPts val="50"/>
              </a:spcBef>
            </a:pPr>
            <a:r>
              <a:rPr sz="2000" b="1" dirty="0">
                <a:latin typeface="Times New Roman"/>
                <a:cs typeface="Times New Roman"/>
              </a:rPr>
              <a:t>Presented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25" dirty="0">
                <a:latin typeface="Times New Roman"/>
                <a:cs typeface="Times New Roman"/>
              </a:rPr>
              <a:t>By: </a:t>
            </a:r>
            <a:r>
              <a:rPr sz="2000" b="1" dirty="0">
                <a:latin typeface="Times New Roman"/>
                <a:cs typeface="Times New Roman"/>
              </a:rPr>
              <a:t>Diggaj </a:t>
            </a:r>
            <a:r>
              <a:rPr sz="2000" b="1" spc="-10" dirty="0">
                <a:latin typeface="Times New Roman"/>
                <a:cs typeface="Times New Roman"/>
              </a:rPr>
              <a:t>Turkar [CM25076]</a:t>
            </a:r>
            <a:endParaRPr sz="2000">
              <a:latin typeface="Times New Roman"/>
              <a:cs typeface="Times New Roman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87522" y="3251298"/>
            <a:ext cx="1455565" cy="1024410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5896788" y="3278905"/>
            <a:ext cx="2223770" cy="94897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007110" marR="5080" indent="-995044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Under</a:t>
            </a:r>
            <a:r>
              <a:rPr sz="2000" b="1" spc="-5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the</a:t>
            </a:r>
            <a:r>
              <a:rPr sz="2000" b="1" spc="-45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Guidance </a:t>
            </a:r>
            <a:r>
              <a:rPr sz="2000" b="1" spc="-25" dirty="0">
                <a:latin typeface="Times New Roman"/>
                <a:cs typeface="Times New Roman"/>
              </a:rPr>
              <a:t>of</a:t>
            </a:r>
            <a:endParaRPr lang="en-US" sz="2000" dirty="0">
              <a:latin typeface="Times New Roman"/>
              <a:cs typeface="Times New Roman"/>
            </a:endParaRPr>
          </a:p>
          <a:p>
            <a:pPr marL="1007110" marR="5080" indent="-995044">
              <a:lnSpc>
                <a:spcPct val="100000"/>
              </a:lnSpc>
              <a:spcBef>
                <a:spcPts val="100"/>
              </a:spcBef>
            </a:pPr>
            <a:r>
              <a:rPr sz="2000" b="1" spc="-20" dirty="0">
                <a:latin typeface="Times New Roman"/>
                <a:cs typeface="Times New Roman"/>
              </a:rPr>
              <a:t>Mrs. </a:t>
            </a:r>
            <a:r>
              <a:rPr sz="2000" b="1" spc="-10" dirty="0">
                <a:latin typeface="Times New Roman"/>
                <a:cs typeface="Times New Roman"/>
              </a:rPr>
              <a:t>Mayuri Getme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29140" y="4650104"/>
            <a:ext cx="23495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Session: 2026-27 </a:t>
            </a:r>
            <a:r>
              <a:rPr sz="1800" b="1" spc="-10" dirty="0">
                <a:latin typeface="Times New Roman"/>
                <a:cs typeface="Times New Roman"/>
              </a:rPr>
              <a:t>(ODD)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07325" y="4924424"/>
            <a:ext cx="6796405" cy="11353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3388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Department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-5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CSE(AI&amp;ML)</a:t>
            </a:r>
            <a:endParaRPr sz="1800">
              <a:latin typeface="Times New Roman"/>
              <a:cs typeface="Times New Roman"/>
            </a:endParaRPr>
          </a:p>
          <a:p>
            <a:pPr marL="2012950" marR="5080" indent="-200025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Times New Roman"/>
                <a:cs typeface="Times New Roman"/>
              </a:rPr>
              <a:t>S.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B.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JAIN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INSTITUTE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OF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TECHNOLOGY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MANAGEMENT</a:t>
            </a:r>
            <a:r>
              <a:rPr sz="1800" b="1" spc="-25" dirty="0">
                <a:latin typeface="Times New Roman"/>
                <a:cs typeface="Times New Roman"/>
              </a:rPr>
              <a:t> AND </a:t>
            </a:r>
            <a:r>
              <a:rPr sz="1800" b="1" dirty="0">
                <a:latin typeface="Times New Roman"/>
                <a:cs typeface="Times New Roman"/>
              </a:rPr>
              <a:t>RESEARCH,</a:t>
            </a:r>
            <a:r>
              <a:rPr sz="1800" b="1" spc="-10" dirty="0">
                <a:latin typeface="Times New Roman"/>
                <a:cs typeface="Times New Roman"/>
              </a:rPr>
              <a:t> NAGPUR</a:t>
            </a:r>
            <a:endParaRPr sz="1800">
              <a:latin typeface="Times New Roman"/>
              <a:cs typeface="Times New Roman"/>
            </a:endParaRPr>
          </a:p>
          <a:p>
            <a:pPr marL="355600">
              <a:lnSpc>
                <a:spcPct val="100000"/>
              </a:lnSpc>
            </a:pPr>
            <a:r>
              <a:rPr sz="1800" b="1" dirty="0">
                <a:latin typeface="Times New Roman"/>
                <a:cs typeface="Times New Roman"/>
              </a:rPr>
              <a:t>An</a:t>
            </a:r>
            <a:r>
              <a:rPr sz="1800" b="1" spc="-3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Autonomous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Institute,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Affiliated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to</a:t>
            </a:r>
            <a:r>
              <a:rPr sz="1800" b="1" spc="-25" dirty="0">
                <a:latin typeface="Times New Roman"/>
                <a:cs typeface="Times New Roman"/>
              </a:rPr>
              <a:t> </a:t>
            </a:r>
            <a:r>
              <a:rPr sz="1800" b="1" dirty="0">
                <a:latin typeface="Times New Roman"/>
                <a:cs typeface="Times New Roman"/>
              </a:rPr>
              <a:t>RTMNU,</a:t>
            </a:r>
            <a:r>
              <a:rPr sz="1800" b="1" spc="-30" dirty="0">
                <a:latin typeface="Times New Roman"/>
                <a:cs typeface="Times New Roman"/>
              </a:rPr>
              <a:t> </a:t>
            </a:r>
            <a:r>
              <a:rPr sz="1800" b="1" spc="-10" dirty="0">
                <a:latin typeface="Times New Roman"/>
                <a:cs typeface="Times New Roman"/>
              </a:rPr>
              <a:t>Nagpur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862260-2DA5-2916-EDE4-2D13C1B90860}"/>
              </a:ext>
            </a:extLst>
          </p:cNvPr>
          <p:cNvSpPr txBox="1"/>
          <p:nvPr/>
        </p:nvSpPr>
        <p:spPr>
          <a:xfrm>
            <a:off x="4128687" y="978120"/>
            <a:ext cx="914400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EB8E54-781B-2786-6BBB-575675322BF1}"/>
              </a:ext>
            </a:extLst>
          </p:cNvPr>
          <p:cNvSpPr txBox="1"/>
          <p:nvPr/>
        </p:nvSpPr>
        <p:spPr>
          <a:xfrm>
            <a:off x="2850397" y="190909"/>
            <a:ext cx="3443205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600" b="1" spc="-10" dirty="0">
                <a:latin typeface="Times New Roman"/>
                <a:cs typeface="Times New Roman"/>
              </a:rPr>
              <a:t>Experiential</a:t>
            </a:r>
            <a:r>
              <a:rPr lang="en-IN" sz="2600" b="1" spc="-80" dirty="0">
                <a:latin typeface="Times New Roman"/>
                <a:cs typeface="Times New Roman"/>
              </a:rPr>
              <a:t> </a:t>
            </a:r>
            <a:r>
              <a:rPr lang="en-IN" sz="2600" b="1" spc="-10" dirty="0">
                <a:latin typeface="Times New Roman"/>
                <a:cs typeface="Times New Roman"/>
              </a:rPr>
              <a:t>Learning </a:t>
            </a:r>
            <a:r>
              <a:rPr lang="en-IN" sz="2600" b="1" dirty="0">
                <a:latin typeface="Times New Roman"/>
                <a:cs typeface="Times New Roman"/>
              </a:rPr>
              <a:t>Project</a:t>
            </a:r>
            <a:r>
              <a:rPr lang="en-IN" sz="2600" b="1" spc="55" dirty="0">
                <a:latin typeface="Times New Roman"/>
                <a:cs typeface="Times New Roman"/>
              </a:rPr>
              <a:t> </a:t>
            </a:r>
            <a:r>
              <a:rPr lang="en-IN" sz="2600" b="1" spc="-10" dirty="0">
                <a:latin typeface="Times New Roman"/>
                <a:cs typeface="Times New Roman"/>
              </a:rPr>
              <a:t>Assessment-</a:t>
            </a:r>
            <a:r>
              <a:rPr lang="en-IN" sz="2600" b="1" spc="-50" dirty="0">
                <a:latin typeface="Times New Roman"/>
                <a:cs typeface="Times New Roman"/>
              </a:rPr>
              <a:t>II</a:t>
            </a:r>
            <a:endParaRPr lang="en-IN" sz="2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100"/>
              </a:spcBef>
            </a:pPr>
            <a:r>
              <a:rPr spc="-10" dirty="0">
                <a:latin typeface="Times New Roman"/>
                <a:cs typeface="Times New Roman"/>
              </a:rPr>
              <a:t>Contents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19755" y="879728"/>
            <a:ext cx="6198870" cy="2494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5425" marR="4258945" indent="-21336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226695" algn="l"/>
              </a:tabLst>
            </a:pPr>
            <a:r>
              <a:rPr sz="1800" dirty="0">
                <a:latin typeface="Times New Roman"/>
                <a:cs typeface="Times New Roman"/>
              </a:rPr>
              <a:t>Problem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statement 	Objectives 	Algorithm</a:t>
            </a:r>
            <a:endParaRPr sz="1800">
              <a:latin typeface="Times New Roman"/>
              <a:cs typeface="Times New Roman"/>
            </a:endParaRPr>
          </a:p>
          <a:p>
            <a:pPr marL="226695" marR="2505710">
              <a:lnSpc>
                <a:spcPct val="100000"/>
              </a:lnSpc>
            </a:pPr>
            <a:r>
              <a:rPr sz="1800" spc="-10" dirty="0">
                <a:latin typeface="Times New Roman"/>
                <a:cs typeface="Times New Roman"/>
              </a:rPr>
              <a:t>Flowchart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/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pseudocode </a:t>
            </a:r>
            <a:r>
              <a:rPr sz="1800" dirty="0">
                <a:latin typeface="Times New Roman"/>
                <a:cs typeface="Times New Roman"/>
              </a:rPr>
              <a:t>Understanding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Python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logic Graphical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representation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working</a:t>
            </a:r>
            <a:endParaRPr sz="1800">
              <a:latin typeface="Times New Roman"/>
              <a:cs typeface="Times New Roman"/>
            </a:endParaRPr>
          </a:p>
          <a:p>
            <a:pPr marL="226695" marR="5080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GitHub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account,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repository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creation,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uploading</a:t>
            </a:r>
            <a:r>
              <a:rPr sz="1800" spc="-5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code,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meaningful </a:t>
            </a:r>
            <a:r>
              <a:rPr sz="1800" dirty="0">
                <a:latin typeface="Times New Roman"/>
                <a:cs typeface="Times New Roman"/>
              </a:rPr>
              <a:t>commits,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collaboration,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individual</a:t>
            </a:r>
            <a:r>
              <a:rPr sz="1800" spc="-7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contribution</a:t>
            </a:r>
            <a:endParaRPr sz="1800">
              <a:latin typeface="Times New Roman"/>
              <a:cs typeface="Times New Roman"/>
            </a:endParaRPr>
          </a:p>
          <a:p>
            <a:pPr marL="226695">
              <a:lnSpc>
                <a:spcPct val="100000"/>
              </a:lnSpc>
            </a:pPr>
            <a:r>
              <a:rPr sz="1800" dirty="0">
                <a:latin typeface="Times New Roman"/>
                <a:cs typeface="Times New Roman"/>
              </a:rPr>
              <a:t>Result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/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expected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output</a:t>
            </a:r>
            <a:endParaRPr sz="1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82270" y="6361677"/>
            <a:ext cx="3402329" cy="4603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8800"/>
              </a:lnSpc>
              <a:spcBef>
                <a:spcPts val="100"/>
              </a:spcBef>
            </a:pP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S.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B.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Jain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Institute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Technology</a:t>
            </a:r>
            <a:r>
              <a:rPr sz="1200" b="1" spc="-1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Management </a:t>
            </a:r>
            <a:r>
              <a:rPr sz="1200" b="1" dirty="0">
                <a:solidFill>
                  <a:srgbClr val="FFFFFF"/>
                </a:solidFill>
                <a:latin typeface="Arial"/>
                <a:cs typeface="Arial"/>
              </a:rPr>
              <a:t>and</a:t>
            </a:r>
            <a:r>
              <a:rPr sz="1200" b="1" spc="-4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1200" b="1" spc="-10" dirty="0">
                <a:solidFill>
                  <a:srgbClr val="FFFFFF"/>
                </a:solidFill>
                <a:latin typeface="Arial"/>
                <a:cs typeface="Arial"/>
              </a:rPr>
              <a:t>research</a:t>
            </a:r>
            <a:endParaRPr sz="12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/>
              <a:t>1.</a:t>
            </a:r>
            <a:r>
              <a:rPr spc="-35" dirty="0"/>
              <a:t> </a:t>
            </a:r>
            <a:r>
              <a:rPr dirty="0"/>
              <a:t>Problem</a:t>
            </a:r>
            <a:r>
              <a:rPr spc="-35" dirty="0"/>
              <a:t> </a:t>
            </a:r>
            <a:r>
              <a:rPr spc="-10" dirty="0"/>
              <a:t>Statement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18388" y="1202771"/>
            <a:ext cx="6525259" cy="36830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9890" marR="5080" indent="-377825">
              <a:lnSpc>
                <a:spcPct val="100000"/>
              </a:lnSpc>
              <a:spcBef>
                <a:spcPts val="100"/>
              </a:spcBef>
              <a:buChar char="●"/>
              <a:tabLst>
                <a:tab pos="389890" algn="l"/>
              </a:tabLst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receive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from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</a:t>
            </a:r>
            <a:r>
              <a:rPr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subjects,</a:t>
            </a:r>
            <a:r>
              <a:rPr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</a:t>
            </a:r>
            <a:r>
              <a:rPr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manually</a:t>
            </a: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calculating</a:t>
            </a:r>
            <a:r>
              <a:rPr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grades,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GPA/CGPA,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percentage,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trends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time-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consuming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error-prone.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marR="31750">
              <a:lnSpc>
                <a:spcPct val="100000"/>
              </a:lnSpc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</a:t>
            </a: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</a:t>
            </a: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accept</a:t>
            </a: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</a:t>
            </a: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</a:t>
            </a:r>
            <a:r>
              <a:rPr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subject-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wise</a:t>
            </a: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grades</a:t>
            </a: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</a:t>
            </a:r>
            <a:r>
              <a:rPr sz="2000" spc="-5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GPA/CGPA,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attendance,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</a:t>
            </a:r>
            <a:r>
              <a:rPr sz="20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through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clear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charts</a:t>
            </a:r>
            <a:r>
              <a:rPr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89890" marR="226695">
              <a:lnSpc>
                <a:spcPct val="100000"/>
              </a:lnSpc>
            </a:pP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aims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Python-based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academic</a:t>
            </a:r>
            <a:r>
              <a:rPr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dashboard</a:t>
            </a:r>
            <a:r>
              <a:rPr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helps</a:t>
            </a:r>
            <a:r>
              <a:rPr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</a:t>
            </a:r>
            <a:r>
              <a:rPr sz="2000" spc="-4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strengths,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</a:t>
            </a:r>
            <a:r>
              <a:rPr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subjects,</a:t>
            </a:r>
            <a:r>
              <a:rPr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attendance</a:t>
            </a:r>
            <a:r>
              <a:rPr sz="2000" spc="-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status,</a:t>
            </a:r>
            <a:r>
              <a:rPr sz="20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progress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across</a:t>
            </a:r>
            <a:r>
              <a:rPr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semesters.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100"/>
              </a:spcBef>
            </a:pPr>
            <a:r>
              <a:rPr dirty="0"/>
              <a:t>2.</a:t>
            </a:r>
            <a:r>
              <a:rPr spc="-35" dirty="0"/>
              <a:t> </a:t>
            </a:r>
            <a:r>
              <a:rPr spc="-10" dirty="0"/>
              <a:t>Objective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8679" y="1042718"/>
            <a:ext cx="7226300" cy="37896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8620" marR="180340" indent="-376555">
              <a:lnSpc>
                <a:spcPct val="100000"/>
              </a:lnSpc>
              <a:spcBef>
                <a:spcPts val="100"/>
              </a:spcBef>
              <a:buChar char="●"/>
              <a:tabLst>
                <a:tab pos="388620" algn="l"/>
              </a:tabLst>
            </a:pPr>
            <a:r>
              <a:rPr sz="1900" dirty="0">
                <a:latin typeface="Arial MT"/>
                <a:cs typeface="Arial MT"/>
              </a:rPr>
              <a:t>To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develop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Python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application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for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tracking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student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academic performance.</a:t>
            </a:r>
            <a:endParaRPr sz="1900">
              <a:latin typeface="Arial MT"/>
              <a:cs typeface="Arial MT"/>
            </a:endParaRPr>
          </a:p>
          <a:p>
            <a:pPr marL="388620" marR="545465">
              <a:lnSpc>
                <a:spcPct val="100000"/>
              </a:lnSpc>
            </a:pPr>
            <a:r>
              <a:rPr sz="1900" dirty="0">
                <a:latin typeface="Arial MT"/>
                <a:cs typeface="Arial MT"/>
              </a:rPr>
              <a:t>To</a:t>
            </a:r>
            <a:r>
              <a:rPr sz="1900" spc="-7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calculate</a:t>
            </a:r>
            <a:r>
              <a:rPr sz="1900" spc="-75" dirty="0">
                <a:latin typeface="Arial MT"/>
                <a:cs typeface="Arial MT"/>
              </a:rPr>
              <a:t> </a:t>
            </a:r>
            <a:r>
              <a:rPr sz="1900" spc="-20" dirty="0">
                <a:latin typeface="Arial MT"/>
                <a:cs typeface="Arial MT"/>
              </a:rPr>
              <a:t>subject-</a:t>
            </a:r>
            <a:r>
              <a:rPr sz="1900" dirty="0">
                <a:latin typeface="Arial MT"/>
                <a:cs typeface="Arial MT"/>
              </a:rPr>
              <a:t>wise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marks,</a:t>
            </a:r>
            <a:r>
              <a:rPr sz="1900" spc="-7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grades,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grade</a:t>
            </a:r>
            <a:r>
              <a:rPr sz="1900" spc="-7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points,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and </a:t>
            </a:r>
            <a:r>
              <a:rPr sz="1900" spc="-10" dirty="0">
                <a:latin typeface="Arial MT"/>
                <a:cs typeface="Arial MT"/>
              </a:rPr>
              <a:t>attendance</a:t>
            </a:r>
            <a:r>
              <a:rPr sz="1900" spc="-4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percentage.</a:t>
            </a:r>
            <a:endParaRPr sz="1900">
              <a:latin typeface="Arial MT"/>
              <a:cs typeface="Arial MT"/>
            </a:endParaRPr>
          </a:p>
          <a:p>
            <a:pPr marL="388620" marR="248285">
              <a:lnSpc>
                <a:spcPct val="100000"/>
              </a:lnSpc>
            </a:pPr>
            <a:r>
              <a:rPr sz="1900" dirty="0">
                <a:latin typeface="Arial MT"/>
                <a:cs typeface="Arial MT"/>
              </a:rPr>
              <a:t>To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calculate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semester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GPA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and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overall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CGPA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from</a:t>
            </a:r>
            <a:r>
              <a:rPr sz="1900" spc="-5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academic records.</a:t>
            </a:r>
            <a:endParaRPr sz="1900">
              <a:latin typeface="Arial MT"/>
              <a:cs typeface="Arial MT"/>
            </a:endParaRPr>
          </a:p>
          <a:p>
            <a:pPr marL="388620" marR="127635">
              <a:lnSpc>
                <a:spcPct val="100000"/>
              </a:lnSpc>
            </a:pPr>
            <a:r>
              <a:rPr sz="1900" dirty="0">
                <a:latin typeface="Arial MT"/>
                <a:cs typeface="Arial MT"/>
              </a:rPr>
              <a:t>To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identify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strong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and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weak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subjects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using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score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comparisons. </a:t>
            </a:r>
            <a:r>
              <a:rPr sz="1900" dirty="0">
                <a:latin typeface="Arial MT"/>
                <a:cs typeface="Arial MT"/>
              </a:rPr>
              <a:t>To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visualize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marks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and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performance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trends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using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charts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and </a:t>
            </a:r>
            <a:r>
              <a:rPr sz="1900" spc="-10" dirty="0">
                <a:latin typeface="Arial MT"/>
                <a:cs typeface="Arial MT"/>
              </a:rPr>
              <a:t>graphs.</a:t>
            </a:r>
            <a:endParaRPr sz="1900">
              <a:latin typeface="Arial MT"/>
              <a:cs typeface="Arial MT"/>
            </a:endParaRPr>
          </a:p>
          <a:p>
            <a:pPr marL="388620" marR="5080">
              <a:lnSpc>
                <a:spcPct val="100000"/>
              </a:lnSpc>
            </a:pPr>
            <a:r>
              <a:rPr sz="1900" dirty="0">
                <a:latin typeface="Arial MT"/>
                <a:cs typeface="Arial MT"/>
              </a:rPr>
              <a:t>To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provide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simple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and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understandable</a:t>
            </a:r>
            <a:r>
              <a:rPr sz="1900" spc="-6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academic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performance summary.</a:t>
            </a:r>
            <a:endParaRPr sz="1900">
              <a:latin typeface="Arial MT"/>
              <a:cs typeface="Arial MT"/>
            </a:endParaRPr>
          </a:p>
          <a:p>
            <a:pPr marL="388620" marR="278130">
              <a:lnSpc>
                <a:spcPct val="100000"/>
              </a:lnSpc>
            </a:pPr>
            <a:r>
              <a:rPr sz="1900" dirty="0">
                <a:latin typeface="Arial MT"/>
                <a:cs typeface="Arial MT"/>
              </a:rPr>
              <a:t>To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practice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Python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data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handling,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functions,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calculations,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spc="-25" dirty="0">
                <a:latin typeface="Arial MT"/>
                <a:cs typeface="Arial MT"/>
              </a:rPr>
              <a:t>and </a:t>
            </a:r>
            <a:r>
              <a:rPr sz="1900" spc="-10" dirty="0">
                <a:latin typeface="Arial MT"/>
                <a:cs typeface="Arial MT"/>
              </a:rPr>
              <a:t>visualization.</a:t>
            </a:r>
            <a:endParaRPr sz="19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100"/>
              </a:spcBef>
            </a:pPr>
            <a:r>
              <a:rPr dirty="0"/>
              <a:t>3.</a:t>
            </a:r>
            <a:r>
              <a:rPr spc="-35" dirty="0"/>
              <a:t> </a:t>
            </a:r>
            <a:r>
              <a:rPr spc="-10" dirty="0"/>
              <a:t>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970" y="1119601"/>
            <a:ext cx="6790055" cy="44145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7350" indent="-374650">
              <a:lnSpc>
                <a:spcPct val="100000"/>
              </a:lnSpc>
              <a:spcBef>
                <a:spcPts val="100"/>
              </a:spcBef>
              <a:buChar char="●"/>
              <a:tabLst>
                <a:tab pos="387350" algn="l"/>
              </a:tabLst>
            </a:pPr>
            <a:r>
              <a:rPr sz="1800" dirty="0">
                <a:latin typeface="Arial MT"/>
                <a:cs typeface="Arial MT"/>
              </a:rPr>
              <a:t>Start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program.</a:t>
            </a:r>
            <a:endParaRPr sz="1800">
              <a:latin typeface="Arial MT"/>
              <a:cs typeface="Arial MT"/>
            </a:endParaRPr>
          </a:p>
          <a:p>
            <a:pPr marL="387350" marR="55562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Enter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student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details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subject-</a:t>
            </a:r>
            <a:r>
              <a:rPr sz="1800" dirty="0">
                <a:latin typeface="Arial MT"/>
                <a:cs typeface="Arial MT"/>
              </a:rPr>
              <a:t>wise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marks,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credits,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and </a:t>
            </a:r>
            <a:r>
              <a:rPr sz="1800" spc="-10" dirty="0">
                <a:latin typeface="Arial MT"/>
                <a:cs typeface="Arial MT"/>
              </a:rPr>
              <a:t>attendance.</a:t>
            </a:r>
            <a:endParaRPr sz="1800">
              <a:latin typeface="Arial MT"/>
              <a:cs typeface="Arial MT"/>
            </a:endParaRPr>
          </a:p>
          <a:p>
            <a:pPr marL="387350" marR="508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Calculate</a:t>
            </a:r>
            <a:r>
              <a:rPr sz="1800" spc="-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total/percentage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attendance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percentage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for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each </a:t>
            </a:r>
            <a:r>
              <a:rPr sz="1800" spc="-10" dirty="0">
                <a:latin typeface="Arial MT"/>
                <a:cs typeface="Arial MT"/>
              </a:rPr>
              <a:t>subject.</a:t>
            </a:r>
            <a:endParaRPr sz="1800">
              <a:latin typeface="Arial MT"/>
              <a:cs typeface="Arial MT"/>
            </a:endParaRPr>
          </a:p>
          <a:p>
            <a:pPr marL="387350" marR="13335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Convert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marks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into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grades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grade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points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using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grading scale.</a:t>
            </a:r>
            <a:endParaRPr sz="1800">
              <a:latin typeface="Arial MT"/>
              <a:cs typeface="Arial MT"/>
            </a:endParaRPr>
          </a:p>
          <a:p>
            <a:pPr marL="387350" marR="54038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Calculate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weighted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semester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GPA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using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grade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points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and </a:t>
            </a:r>
            <a:r>
              <a:rPr sz="1800" dirty="0">
                <a:latin typeface="Arial MT"/>
                <a:cs typeface="Arial MT"/>
              </a:rPr>
              <a:t>subject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credits.</a:t>
            </a:r>
            <a:endParaRPr sz="1800">
              <a:latin typeface="Arial MT"/>
              <a:cs typeface="Arial MT"/>
            </a:endParaRPr>
          </a:p>
          <a:p>
            <a:pPr marL="387350" marR="112522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Calculate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CGPA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semester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GPAs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or</a:t>
            </a:r>
            <a:r>
              <a:rPr sz="1800" spc="-10" dirty="0">
                <a:latin typeface="Arial MT"/>
                <a:cs typeface="Arial MT"/>
              </a:rPr>
              <a:t> cumulative credit-</a:t>
            </a:r>
            <a:r>
              <a:rPr sz="1800" dirty="0">
                <a:latin typeface="Arial MT"/>
                <a:cs typeface="Arial MT"/>
              </a:rPr>
              <a:t>weighted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points.</a:t>
            </a:r>
            <a:endParaRPr sz="1800">
              <a:latin typeface="Arial MT"/>
              <a:cs typeface="Arial MT"/>
            </a:endParaRPr>
          </a:p>
          <a:p>
            <a:pPr marL="387350" marR="112395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Generate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subject-</a:t>
            </a:r>
            <a:r>
              <a:rPr sz="1800" dirty="0">
                <a:latin typeface="Arial MT"/>
                <a:cs typeface="Arial MT"/>
              </a:rPr>
              <a:t>wise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 </a:t>
            </a:r>
            <a:r>
              <a:rPr sz="1800" spc="-10" dirty="0">
                <a:latin typeface="Arial MT"/>
                <a:cs typeface="Arial MT"/>
              </a:rPr>
              <a:t>semester-</a:t>
            </a:r>
            <a:r>
              <a:rPr sz="1800" dirty="0">
                <a:latin typeface="Arial MT"/>
                <a:cs typeface="Arial MT"/>
              </a:rPr>
              <a:t>wise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charts </a:t>
            </a:r>
            <a:r>
              <a:rPr sz="1800" spc="-25" dirty="0">
                <a:latin typeface="Arial MT"/>
                <a:cs typeface="Arial MT"/>
              </a:rPr>
              <a:t>for </a:t>
            </a:r>
            <a:r>
              <a:rPr sz="1800" spc="-10" dirty="0">
                <a:latin typeface="Arial MT"/>
                <a:cs typeface="Arial MT"/>
              </a:rPr>
              <a:t>visualization.</a:t>
            </a:r>
            <a:endParaRPr sz="1800">
              <a:latin typeface="Arial MT"/>
              <a:cs typeface="Arial MT"/>
            </a:endParaRPr>
          </a:p>
          <a:p>
            <a:pPr marL="387350" marR="403225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Display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academic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summary,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attendance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status,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grades, </a:t>
            </a:r>
            <a:r>
              <a:rPr sz="1800" dirty="0">
                <a:latin typeface="Arial MT"/>
                <a:cs typeface="Arial MT"/>
              </a:rPr>
              <a:t>GPA/CGPA,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trends.</a:t>
            </a:r>
            <a:endParaRPr sz="1800">
              <a:latin typeface="Arial MT"/>
              <a:cs typeface="Arial MT"/>
            </a:endParaRPr>
          </a:p>
          <a:p>
            <a:pPr marL="387350">
              <a:lnSpc>
                <a:spcPct val="100000"/>
              </a:lnSpc>
            </a:pPr>
            <a:r>
              <a:rPr sz="1800" dirty="0">
                <a:latin typeface="Arial MT"/>
                <a:cs typeface="Arial MT"/>
              </a:rPr>
              <a:t>Stop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10" dirty="0">
                <a:latin typeface="Arial MT"/>
                <a:cs typeface="Arial MT"/>
              </a:rPr>
              <a:t>program.</a:t>
            </a:r>
            <a:endParaRPr sz="18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100"/>
              </a:spcBef>
            </a:pPr>
            <a:r>
              <a:rPr dirty="0"/>
              <a:t>4.</a:t>
            </a:r>
            <a:r>
              <a:rPr spc="-35" dirty="0"/>
              <a:t> </a:t>
            </a:r>
            <a:r>
              <a:rPr spc="-10" dirty="0"/>
              <a:t>Flowchart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869637" y="1136477"/>
            <a:ext cx="2101215" cy="683895"/>
            <a:chOff x="869637" y="1136477"/>
            <a:chExt cx="2101215" cy="6838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69637" y="1136477"/>
              <a:ext cx="2101205" cy="68388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914399" y="1158239"/>
              <a:ext cx="2011679" cy="594359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914399" y="1158239"/>
              <a:ext cx="2011680" cy="594360"/>
            </a:xfrm>
            <a:custGeom>
              <a:avLst/>
              <a:gdLst/>
              <a:ahLst/>
              <a:cxnLst/>
              <a:rect l="l" t="t" r="r" b="b"/>
              <a:pathLst>
                <a:path w="2011680" h="594360">
                  <a:moveTo>
                    <a:pt x="323638" y="0"/>
                  </a:moveTo>
                  <a:lnTo>
                    <a:pt x="1688041" y="0"/>
                  </a:lnTo>
                  <a:lnTo>
                    <a:pt x="1735866" y="3222"/>
                  </a:lnTo>
                  <a:lnTo>
                    <a:pt x="1781512" y="12582"/>
                  </a:lnTo>
                  <a:lnTo>
                    <a:pt x="1824479" y="27620"/>
                  </a:lnTo>
                  <a:lnTo>
                    <a:pt x="1864266" y="47877"/>
                  </a:lnTo>
                  <a:lnTo>
                    <a:pt x="1900372" y="72893"/>
                  </a:lnTo>
                  <a:lnTo>
                    <a:pt x="1932296" y="102208"/>
                  </a:lnTo>
                  <a:lnTo>
                    <a:pt x="1959539" y="135362"/>
                  </a:lnTo>
                  <a:lnTo>
                    <a:pt x="1981600" y="171896"/>
                  </a:lnTo>
                  <a:lnTo>
                    <a:pt x="1997977" y="211350"/>
                  </a:lnTo>
                  <a:lnTo>
                    <a:pt x="2008170" y="253264"/>
                  </a:lnTo>
                  <a:lnTo>
                    <a:pt x="2011679" y="297179"/>
                  </a:lnTo>
                  <a:lnTo>
                    <a:pt x="2008170" y="341095"/>
                  </a:lnTo>
                  <a:lnTo>
                    <a:pt x="1997977" y="383009"/>
                  </a:lnTo>
                  <a:lnTo>
                    <a:pt x="1981600" y="422463"/>
                  </a:lnTo>
                  <a:lnTo>
                    <a:pt x="1959539" y="458997"/>
                  </a:lnTo>
                  <a:lnTo>
                    <a:pt x="1932296" y="492151"/>
                  </a:lnTo>
                  <a:lnTo>
                    <a:pt x="1900372" y="521466"/>
                  </a:lnTo>
                  <a:lnTo>
                    <a:pt x="1864266" y="546482"/>
                  </a:lnTo>
                  <a:lnTo>
                    <a:pt x="1824479" y="566739"/>
                  </a:lnTo>
                  <a:lnTo>
                    <a:pt x="1781512" y="581777"/>
                  </a:lnTo>
                  <a:lnTo>
                    <a:pt x="1735866" y="591137"/>
                  </a:lnTo>
                  <a:lnTo>
                    <a:pt x="1688041" y="594359"/>
                  </a:lnTo>
                  <a:lnTo>
                    <a:pt x="323638" y="594359"/>
                  </a:lnTo>
                  <a:lnTo>
                    <a:pt x="275813" y="591137"/>
                  </a:lnTo>
                  <a:lnTo>
                    <a:pt x="230167" y="581777"/>
                  </a:lnTo>
                  <a:lnTo>
                    <a:pt x="187200" y="566739"/>
                  </a:lnTo>
                  <a:lnTo>
                    <a:pt x="147413" y="546482"/>
                  </a:lnTo>
                  <a:lnTo>
                    <a:pt x="111307" y="521466"/>
                  </a:lnTo>
                  <a:lnTo>
                    <a:pt x="79383" y="492151"/>
                  </a:lnTo>
                  <a:lnTo>
                    <a:pt x="52140" y="458997"/>
                  </a:lnTo>
                  <a:lnTo>
                    <a:pt x="30079" y="422463"/>
                  </a:lnTo>
                  <a:lnTo>
                    <a:pt x="13702" y="383009"/>
                  </a:lnTo>
                  <a:lnTo>
                    <a:pt x="3509" y="341095"/>
                  </a:lnTo>
                  <a:lnTo>
                    <a:pt x="0" y="297179"/>
                  </a:lnTo>
                  <a:lnTo>
                    <a:pt x="3509" y="253264"/>
                  </a:lnTo>
                  <a:lnTo>
                    <a:pt x="13702" y="211350"/>
                  </a:lnTo>
                  <a:lnTo>
                    <a:pt x="30079" y="171896"/>
                  </a:lnTo>
                  <a:lnTo>
                    <a:pt x="52140" y="135362"/>
                  </a:lnTo>
                  <a:lnTo>
                    <a:pt x="79383" y="102208"/>
                  </a:lnTo>
                  <a:lnTo>
                    <a:pt x="111307" y="72893"/>
                  </a:lnTo>
                  <a:lnTo>
                    <a:pt x="147413" y="47877"/>
                  </a:lnTo>
                  <a:lnTo>
                    <a:pt x="187200" y="27620"/>
                  </a:lnTo>
                  <a:lnTo>
                    <a:pt x="230167" y="12582"/>
                  </a:lnTo>
                  <a:lnTo>
                    <a:pt x="275813" y="3222"/>
                  </a:lnTo>
                  <a:lnTo>
                    <a:pt x="323638" y="0"/>
                  </a:lnTo>
                  <a:close/>
                </a:path>
              </a:pathLst>
            </a:custGeom>
            <a:ln w="9524">
              <a:solidFill>
                <a:srgbClr val="4A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1730453" y="1328927"/>
            <a:ext cx="37274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Start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3429957" y="1121237"/>
            <a:ext cx="2466975" cy="683895"/>
            <a:chOff x="3429957" y="1121237"/>
            <a:chExt cx="2466975" cy="683895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429957" y="1121237"/>
              <a:ext cx="2466965" cy="68388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474720" y="1143000"/>
              <a:ext cx="2377439" cy="594359"/>
            </a:xfrm>
            <a:prstGeom prst="rect">
              <a:avLst/>
            </a:prstGeom>
          </p:spPr>
        </p:pic>
        <p:sp>
          <p:nvSpPr>
            <p:cNvPr id="11" name="object 11"/>
            <p:cNvSpPr/>
            <p:nvPr/>
          </p:nvSpPr>
          <p:spPr>
            <a:xfrm>
              <a:off x="3474720" y="1143000"/>
              <a:ext cx="2377440" cy="594360"/>
            </a:xfrm>
            <a:custGeom>
              <a:avLst/>
              <a:gdLst/>
              <a:ahLst/>
              <a:cxnLst/>
              <a:rect l="l" t="t" r="r" b="b"/>
              <a:pathLst>
                <a:path w="2377440" h="594360">
                  <a:moveTo>
                    <a:pt x="0" y="594359"/>
                  </a:moveTo>
                  <a:lnTo>
                    <a:pt x="148589" y="0"/>
                  </a:lnTo>
                  <a:lnTo>
                    <a:pt x="2377439" y="0"/>
                  </a:lnTo>
                  <a:lnTo>
                    <a:pt x="2228849" y="594359"/>
                  </a:lnTo>
                  <a:lnTo>
                    <a:pt x="0" y="594359"/>
                  </a:lnTo>
                  <a:close/>
                </a:path>
              </a:pathLst>
            </a:custGeom>
            <a:ln w="9524">
              <a:solidFill>
                <a:srgbClr val="4A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3963026" y="1313688"/>
            <a:ext cx="1375410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dirty="0">
                <a:solidFill>
                  <a:srgbClr val="FFFFFF"/>
                </a:solidFill>
                <a:latin typeface="Calibri"/>
                <a:cs typeface="Calibri"/>
              </a:rPr>
              <a:t>Enter</a:t>
            </a:r>
            <a:r>
              <a:rPr sz="14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10" dirty="0">
                <a:solidFill>
                  <a:srgbClr val="FFFFFF"/>
                </a:solidFill>
                <a:latin typeface="Calibri"/>
                <a:cs typeface="Calibri"/>
              </a:rPr>
              <a:t>student</a:t>
            </a:r>
            <a:r>
              <a:rPr sz="1400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400" spc="-2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  <a:endParaRPr sz="1400">
              <a:latin typeface="Calibri"/>
              <a:cs typeface="Calibri"/>
            </a:endParaRPr>
          </a:p>
        </p:txBody>
      </p:sp>
      <p:grpSp>
        <p:nvGrpSpPr>
          <p:cNvPr id="13" name="object 13"/>
          <p:cNvGrpSpPr/>
          <p:nvPr/>
        </p:nvGrpSpPr>
        <p:grpSpPr>
          <a:xfrm>
            <a:off x="6356037" y="1121237"/>
            <a:ext cx="1826895" cy="683895"/>
            <a:chOff x="6356037" y="1121237"/>
            <a:chExt cx="1826895" cy="683895"/>
          </a:xfrm>
        </p:grpSpPr>
        <p:pic>
          <p:nvPicPr>
            <p:cNvPr id="14" name="object 14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356037" y="1121237"/>
              <a:ext cx="1826885" cy="68388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400799" y="1143000"/>
              <a:ext cx="1737359" cy="594359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6400799" y="1143000"/>
              <a:ext cx="1737360" cy="594360"/>
            </a:xfrm>
            <a:custGeom>
              <a:avLst/>
              <a:gdLst/>
              <a:ahLst/>
              <a:cxnLst/>
              <a:rect l="l" t="t" r="r" b="b"/>
              <a:pathLst>
                <a:path w="1737359" h="594360">
                  <a:moveTo>
                    <a:pt x="0" y="0"/>
                  </a:moveTo>
                  <a:lnTo>
                    <a:pt x="1737359" y="0"/>
                  </a:lnTo>
                  <a:lnTo>
                    <a:pt x="1737359" y="594359"/>
                  </a:lnTo>
                  <a:lnTo>
                    <a:pt x="0" y="594359"/>
                  </a:lnTo>
                  <a:lnTo>
                    <a:pt x="0" y="0"/>
                  </a:lnTo>
                  <a:close/>
                </a:path>
              </a:pathLst>
            </a:custGeom>
            <a:ln w="9524">
              <a:solidFill>
                <a:srgbClr val="4A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6405562" y="1238503"/>
            <a:ext cx="17278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1175" marR="297815" indent="-20701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Calculate</a:t>
            </a: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200" dirty="0">
                <a:solidFill>
                  <a:srgbClr val="FFFFFF"/>
                </a:solidFill>
                <a:latin typeface="Calibri"/>
                <a:cs typeface="Calibri"/>
              </a:rPr>
              <a:t>marks</a:t>
            </a:r>
            <a:r>
              <a:rPr sz="1200" spc="-50" dirty="0">
                <a:solidFill>
                  <a:srgbClr val="FFFFFF"/>
                </a:solidFill>
                <a:latin typeface="Calibri"/>
                <a:cs typeface="Calibri"/>
              </a:rPr>
              <a:t> &amp; </a:t>
            </a:r>
            <a:r>
              <a:rPr sz="1200" spc="-10" dirty="0">
                <a:solidFill>
                  <a:srgbClr val="FFFFFF"/>
                </a:solidFill>
                <a:latin typeface="Calibri"/>
                <a:cs typeface="Calibri"/>
              </a:rPr>
              <a:t>attendance</a:t>
            </a:r>
            <a:endParaRPr sz="1200">
              <a:latin typeface="Calibri"/>
              <a:cs typeface="Calibri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1784037" y="2309957"/>
            <a:ext cx="5393055" cy="683895"/>
            <a:chOff x="1784037" y="2309957"/>
            <a:chExt cx="5393055" cy="683895"/>
          </a:xfrm>
        </p:grpSpPr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84037" y="2309957"/>
              <a:ext cx="2375525" cy="68388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828800" y="2331720"/>
              <a:ext cx="2285999" cy="59435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801557" y="2309957"/>
              <a:ext cx="2375525" cy="68388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846320" y="2331720"/>
              <a:ext cx="2285999" cy="594359"/>
            </a:xfrm>
            <a:prstGeom prst="rect">
              <a:avLst/>
            </a:prstGeom>
          </p:spPr>
        </p:pic>
      </p:grpSp>
      <p:grpSp>
        <p:nvGrpSpPr>
          <p:cNvPr id="23" name="object 23"/>
          <p:cNvGrpSpPr/>
          <p:nvPr/>
        </p:nvGrpSpPr>
        <p:grpSpPr>
          <a:xfrm>
            <a:off x="2873380" y="1407480"/>
            <a:ext cx="4448810" cy="2185670"/>
            <a:chOff x="2873380" y="1407480"/>
            <a:chExt cx="4448810" cy="2185670"/>
          </a:xfrm>
        </p:grpSpPr>
        <p:pic>
          <p:nvPicPr>
            <p:cNvPr id="24" name="object 24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2873380" y="1407480"/>
              <a:ext cx="654040" cy="105400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2926079" y="1440180"/>
              <a:ext cx="548640" cy="0"/>
            </a:xfrm>
            <a:custGeom>
              <a:avLst/>
              <a:gdLst/>
              <a:ahLst/>
              <a:cxnLst/>
              <a:rect l="l" t="t" r="r" b="b"/>
              <a:pathLst>
                <a:path w="548639">
                  <a:moveTo>
                    <a:pt x="0" y="0"/>
                  </a:moveTo>
                  <a:lnTo>
                    <a:pt x="548639" y="0"/>
                  </a:lnTo>
                </a:path>
              </a:pathLst>
            </a:custGeom>
            <a:ln w="25399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6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5799460" y="1407480"/>
              <a:ext cx="654040" cy="105400"/>
            </a:xfrm>
            <a:prstGeom prst="rect">
              <a:avLst/>
            </a:prstGeom>
          </p:spPr>
        </p:pic>
        <p:sp>
          <p:nvSpPr>
            <p:cNvPr id="27" name="object 27"/>
            <p:cNvSpPr/>
            <p:nvPr/>
          </p:nvSpPr>
          <p:spPr>
            <a:xfrm>
              <a:off x="5852159" y="1440180"/>
              <a:ext cx="548640" cy="0"/>
            </a:xfrm>
            <a:custGeom>
              <a:avLst/>
              <a:gdLst/>
              <a:ahLst/>
              <a:cxnLst/>
              <a:rect l="l" t="t" r="r" b="b"/>
              <a:pathLst>
                <a:path w="548639">
                  <a:moveTo>
                    <a:pt x="0" y="0"/>
                  </a:moveTo>
                  <a:lnTo>
                    <a:pt x="548639" y="0"/>
                  </a:lnTo>
                </a:path>
              </a:pathLst>
            </a:custGeom>
            <a:ln w="25399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7216780" y="1704660"/>
              <a:ext cx="105400" cy="379720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7269479" y="1737360"/>
              <a:ext cx="0" cy="274320"/>
            </a:xfrm>
            <a:custGeom>
              <a:avLst/>
              <a:gdLst/>
              <a:ahLst/>
              <a:cxnLst/>
              <a:rect l="l" t="t" r="r" b="b"/>
              <a:pathLst>
                <a:path h="274319">
                  <a:moveTo>
                    <a:pt x="0" y="0"/>
                  </a:moveTo>
                  <a:lnTo>
                    <a:pt x="0" y="274319"/>
                  </a:lnTo>
                </a:path>
              </a:pathLst>
            </a:custGeom>
            <a:ln w="25399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0" name="object 3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5936620" y="1978980"/>
              <a:ext cx="1385560" cy="425440"/>
            </a:xfrm>
            <a:prstGeom prst="rect">
              <a:avLst/>
            </a:prstGeom>
          </p:spPr>
        </p:pic>
        <p:sp>
          <p:nvSpPr>
            <p:cNvPr id="31" name="object 31"/>
            <p:cNvSpPr/>
            <p:nvPr/>
          </p:nvSpPr>
          <p:spPr>
            <a:xfrm>
              <a:off x="5989319" y="2011680"/>
              <a:ext cx="1280160" cy="320040"/>
            </a:xfrm>
            <a:custGeom>
              <a:avLst/>
              <a:gdLst/>
              <a:ahLst/>
              <a:cxnLst/>
              <a:rect l="l" t="t" r="r" b="b"/>
              <a:pathLst>
                <a:path w="1280159" h="320039">
                  <a:moveTo>
                    <a:pt x="1280159" y="0"/>
                  </a:moveTo>
                  <a:lnTo>
                    <a:pt x="0" y="320039"/>
                  </a:lnTo>
                </a:path>
              </a:pathLst>
            </a:custGeom>
            <a:ln w="25399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32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062100" y="2596200"/>
              <a:ext cx="836920" cy="105400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2919100" y="2893380"/>
              <a:ext cx="1156960" cy="699760"/>
            </a:xfrm>
            <a:prstGeom prst="rect">
              <a:avLst/>
            </a:prstGeom>
          </p:spPr>
        </p:pic>
        <p:sp>
          <p:nvSpPr>
            <p:cNvPr id="34" name="object 34"/>
            <p:cNvSpPr/>
            <p:nvPr/>
          </p:nvSpPr>
          <p:spPr>
            <a:xfrm>
              <a:off x="2971799" y="2926080"/>
              <a:ext cx="1051560" cy="594360"/>
            </a:xfrm>
            <a:custGeom>
              <a:avLst/>
              <a:gdLst/>
              <a:ahLst/>
              <a:cxnLst/>
              <a:rect l="l" t="t" r="r" b="b"/>
              <a:pathLst>
                <a:path w="1051560" h="594360">
                  <a:moveTo>
                    <a:pt x="0" y="0"/>
                  </a:moveTo>
                  <a:lnTo>
                    <a:pt x="1051559" y="594359"/>
                  </a:lnTo>
                </a:path>
              </a:pathLst>
            </a:custGeom>
            <a:ln w="25399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5" name="object 35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250820" y="2893380"/>
              <a:ext cx="791200" cy="699760"/>
            </a:xfrm>
            <a:prstGeom prst="rect">
              <a:avLst/>
            </a:prstGeom>
          </p:spPr>
        </p:pic>
        <p:sp>
          <p:nvSpPr>
            <p:cNvPr id="36" name="object 36"/>
            <p:cNvSpPr/>
            <p:nvPr/>
          </p:nvSpPr>
          <p:spPr>
            <a:xfrm>
              <a:off x="5303519" y="2926080"/>
              <a:ext cx="685800" cy="594360"/>
            </a:xfrm>
            <a:custGeom>
              <a:avLst/>
              <a:gdLst/>
              <a:ahLst/>
              <a:cxnLst/>
              <a:rect l="l" t="t" r="r" b="b"/>
              <a:pathLst>
                <a:path w="685800" h="594360">
                  <a:moveTo>
                    <a:pt x="685799" y="0"/>
                  </a:moveTo>
                  <a:lnTo>
                    <a:pt x="0" y="594359"/>
                  </a:lnTo>
                </a:path>
              </a:pathLst>
            </a:custGeom>
            <a:ln w="25399">
              <a:solidFill>
                <a:srgbClr val="4F81B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aphicFrame>
        <p:nvGraphicFramePr>
          <p:cNvPr id="37" name="object 37"/>
          <p:cNvGraphicFramePr>
            <a:graphicFrameLocks noGrp="1"/>
          </p:cNvGraphicFramePr>
          <p:nvPr/>
        </p:nvGraphicFramePr>
        <p:xfrm>
          <a:off x="1824037" y="2326957"/>
          <a:ext cx="5303519" cy="59309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1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6545"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192405">
                        <a:lnSpc>
                          <a:spcPct val="100000"/>
                        </a:lnSpc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Assign</a:t>
                      </a:r>
                      <a:r>
                        <a:rPr sz="13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grades</a:t>
                      </a:r>
                      <a:r>
                        <a:rPr sz="13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13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grade</a:t>
                      </a:r>
                      <a:r>
                        <a:rPr sz="13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points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9525">
                      <a:solidFill>
                        <a:srgbClr val="4A7DBA"/>
                      </a:solidFill>
                      <a:prstDash val="solid"/>
                    </a:lnL>
                    <a:lnR w="9525">
                      <a:solidFill>
                        <a:srgbClr val="4A7DBA"/>
                      </a:solidFill>
                      <a:prstDash val="solid"/>
                    </a:lnR>
                    <a:lnT w="9525">
                      <a:solidFill>
                        <a:srgbClr val="4A7DBA"/>
                      </a:solidFill>
                      <a:prstDash val="solid"/>
                    </a:lnT>
                    <a:lnB w="9525">
                      <a:solidFill>
                        <a:srgbClr val="4A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4A7DBA"/>
                      </a:solidFill>
                      <a:prstDash val="solid"/>
                    </a:lnL>
                    <a:lnR w="9525">
                      <a:solidFill>
                        <a:srgbClr val="4A7DBA"/>
                      </a:solidFill>
                      <a:prstDash val="solid"/>
                    </a:lnR>
                    <a:lnB w="28575">
                      <a:solidFill>
                        <a:srgbClr val="4F81BD"/>
                      </a:solidFill>
                      <a:prstDash val="solid"/>
                    </a:lnB>
                  </a:tcPr>
                </a:tc>
                <a:tc row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431800">
                        <a:lnSpc>
                          <a:spcPct val="100000"/>
                        </a:lnSpc>
                      </a:pPr>
                      <a:r>
                        <a:rPr sz="13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Calculate</a:t>
                      </a:r>
                      <a:r>
                        <a:rPr sz="13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GPA</a:t>
                      </a:r>
                      <a:r>
                        <a:rPr sz="13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/</a:t>
                      </a:r>
                      <a:r>
                        <a:rPr sz="13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CGPA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9525">
                      <a:solidFill>
                        <a:srgbClr val="4A7DBA"/>
                      </a:solidFill>
                      <a:prstDash val="solid"/>
                    </a:lnL>
                    <a:lnR w="9525">
                      <a:solidFill>
                        <a:srgbClr val="4A7DBA"/>
                      </a:solidFill>
                      <a:prstDash val="solid"/>
                    </a:lnR>
                    <a:lnT w="9525">
                      <a:solidFill>
                        <a:srgbClr val="4A7DBA"/>
                      </a:solidFill>
                      <a:prstDash val="solid"/>
                    </a:lnT>
                    <a:lnB w="9525">
                      <a:solidFill>
                        <a:srgbClr val="4A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545"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" marB="0">
                    <a:lnL w="9525">
                      <a:solidFill>
                        <a:srgbClr val="4A7DBA"/>
                      </a:solidFill>
                      <a:prstDash val="solid"/>
                    </a:lnL>
                    <a:lnR w="9525">
                      <a:solidFill>
                        <a:srgbClr val="4A7DBA"/>
                      </a:solidFill>
                      <a:prstDash val="solid"/>
                    </a:lnR>
                    <a:lnT w="9525">
                      <a:solidFill>
                        <a:srgbClr val="4A7DBA"/>
                      </a:solidFill>
                      <a:prstDash val="solid"/>
                    </a:lnT>
                    <a:lnB w="9525">
                      <a:solidFill>
                        <a:srgbClr val="4A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4A7DBA"/>
                      </a:solidFill>
                      <a:prstDash val="solid"/>
                    </a:lnL>
                    <a:lnR w="9525">
                      <a:solidFill>
                        <a:srgbClr val="4A7DBA"/>
                      </a:solidFill>
                      <a:prstDash val="solid"/>
                    </a:lnR>
                    <a:lnT w="28575">
                      <a:solidFill>
                        <a:srgbClr val="4F81BD"/>
                      </a:solidFill>
                      <a:prstDash val="solid"/>
                    </a:lnT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270" marB="0">
                    <a:lnL w="9525">
                      <a:solidFill>
                        <a:srgbClr val="4A7DBA"/>
                      </a:solidFill>
                      <a:prstDash val="solid"/>
                    </a:lnL>
                    <a:lnR w="9525">
                      <a:solidFill>
                        <a:srgbClr val="4A7DBA"/>
                      </a:solidFill>
                      <a:prstDash val="solid"/>
                    </a:lnR>
                    <a:lnT w="9525">
                      <a:solidFill>
                        <a:srgbClr val="4A7DBA"/>
                      </a:solidFill>
                      <a:prstDash val="solid"/>
                    </a:lnT>
                    <a:lnB w="9525">
                      <a:solidFill>
                        <a:srgbClr val="4A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pSp>
        <p:nvGrpSpPr>
          <p:cNvPr id="38" name="object 38"/>
          <p:cNvGrpSpPr/>
          <p:nvPr/>
        </p:nvGrpSpPr>
        <p:grpSpPr>
          <a:xfrm>
            <a:off x="3338517" y="3498677"/>
            <a:ext cx="2558415" cy="683895"/>
            <a:chOff x="3338517" y="3498677"/>
            <a:chExt cx="2558415" cy="683895"/>
          </a:xfrm>
        </p:grpSpPr>
        <p:pic>
          <p:nvPicPr>
            <p:cNvPr id="39" name="object 39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338517" y="3498677"/>
              <a:ext cx="2558405" cy="683885"/>
            </a:xfrm>
            <a:prstGeom prst="rect">
              <a:avLst/>
            </a:prstGeom>
          </p:spPr>
        </p:pic>
        <p:pic>
          <p:nvPicPr>
            <p:cNvPr id="40" name="object 40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383279" y="3520439"/>
              <a:ext cx="2468879" cy="594359"/>
            </a:xfrm>
            <a:prstGeom prst="rect">
              <a:avLst/>
            </a:prstGeom>
          </p:spPr>
        </p:pic>
      </p:grpSp>
      <p:grpSp>
        <p:nvGrpSpPr>
          <p:cNvPr id="41" name="object 41"/>
          <p:cNvGrpSpPr/>
          <p:nvPr/>
        </p:nvGrpSpPr>
        <p:grpSpPr>
          <a:xfrm>
            <a:off x="3338517" y="4641677"/>
            <a:ext cx="2558415" cy="683895"/>
            <a:chOff x="3338517" y="4641677"/>
            <a:chExt cx="2558415" cy="683895"/>
          </a:xfrm>
        </p:grpSpPr>
        <p:pic>
          <p:nvPicPr>
            <p:cNvPr id="42" name="object 42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3338517" y="4641677"/>
              <a:ext cx="2558405" cy="683885"/>
            </a:xfrm>
            <a:prstGeom prst="rect">
              <a:avLst/>
            </a:prstGeom>
          </p:spPr>
        </p:pic>
        <p:pic>
          <p:nvPicPr>
            <p:cNvPr id="43" name="object 43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3383279" y="4663439"/>
              <a:ext cx="2468879" cy="594359"/>
            </a:xfrm>
            <a:prstGeom prst="rect">
              <a:avLst/>
            </a:prstGeom>
          </p:spPr>
        </p:pic>
      </p:grpSp>
      <p:grpSp>
        <p:nvGrpSpPr>
          <p:cNvPr id="44" name="object 44"/>
          <p:cNvGrpSpPr/>
          <p:nvPr/>
        </p:nvGrpSpPr>
        <p:grpSpPr>
          <a:xfrm>
            <a:off x="3338517" y="5601797"/>
            <a:ext cx="2558415" cy="683895"/>
            <a:chOff x="3338517" y="5601797"/>
            <a:chExt cx="2558415" cy="683895"/>
          </a:xfrm>
        </p:grpSpPr>
        <p:pic>
          <p:nvPicPr>
            <p:cNvPr id="45" name="object 45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3338517" y="5601797"/>
              <a:ext cx="2558405" cy="683885"/>
            </a:xfrm>
            <a:prstGeom prst="rect">
              <a:avLst/>
            </a:prstGeom>
          </p:spPr>
        </p:pic>
        <p:pic>
          <p:nvPicPr>
            <p:cNvPr id="46" name="object 46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3383279" y="5623559"/>
              <a:ext cx="2468879" cy="594359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3383279" y="5623559"/>
              <a:ext cx="2468880" cy="594360"/>
            </a:xfrm>
            <a:custGeom>
              <a:avLst/>
              <a:gdLst/>
              <a:ahLst/>
              <a:cxnLst/>
              <a:rect l="l" t="t" r="r" b="b"/>
              <a:pathLst>
                <a:path w="2468879" h="594360">
                  <a:moveTo>
                    <a:pt x="397192" y="0"/>
                  </a:moveTo>
                  <a:lnTo>
                    <a:pt x="2071687" y="0"/>
                  </a:lnTo>
                  <a:lnTo>
                    <a:pt x="2125584" y="2712"/>
                  </a:lnTo>
                  <a:lnTo>
                    <a:pt x="2177276" y="10615"/>
                  </a:lnTo>
                  <a:lnTo>
                    <a:pt x="2226292" y="23353"/>
                  </a:lnTo>
                  <a:lnTo>
                    <a:pt x="2272158" y="40573"/>
                  </a:lnTo>
                  <a:lnTo>
                    <a:pt x="2314399" y="61921"/>
                  </a:lnTo>
                  <a:lnTo>
                    <a:pt x="2352544" y="87041"/>
                  </a:lnTo>
                  <a:lnTo>
                    <a:pt x="2386119" y="115582"/>
                  </a:lnTo>
                  <a:lnTo>
                    <a:pt x="2414651" y="147187"/>
                  </a:lnTo>
                  <a:lnTo>
                    <a:pt x="2437666" y="181504"/>
                  </a:lnTo>
                  <a:lnTo>
                    <a:pt x="2454691" y="218177"/>
                  </a:lnTo>
                  <a:lnTo>
                    <a:pt x="2465254" y="256854"/>
                  </a:lnTo>
                  <a:lnTo>
                    <a:pt x="2468879" y="297179"/>
                  </a:lnTo>
                  <a:lnTo>
                    <a:pt x="2465254" y="337505"/>
                  </a:lnTo>
                  <a:lnTo>
                    <a:pt x="2454691" y="376182"/>
                  </a:lnTo>
                  <a:lnTo>
                    <a:pt x="2437666" y="412855"/>
                  </a:lnTo>
                  <a:lnTo>
                    <a:pt x="2414651" y="447172"/>
                  </a:lnTo>
                  <a:lnTo>
                    <a:pt x="2386119" y="478777"/>
                  </a:lnTo>
                  <a:lnTo>
                    <a:pt x="2352544" y="507317"/>
                  </a:lnTo>
                  <a:lnTo>
                    <a:pt x="2314399" y="532438"/>
                  </a:lnTo>
                  <a:lnTo>
                    <a:pt x="2272158" y="553786"/>
                  </a:lnTo>
                  <a:lnTo>
                    <a:pt x="2226292" y="571006"/>
                  </a:lnTo>
                  <a:lnTo>
                    <a:pt x="2177276" y="583744"/>
                  </a:lnTo>
                  <a:lnTo>
                    <a:pt x="2125584" y="591647"/>
                  </a:lnTo>
                  <a:lnTo>
                    <a:pt x="2071687" y="594359"/>
                  </a:lnTo>
                  <a:lnTo>
                    <a:pt x="397192" y="594359"/>
                  </a:lnTo>
                  <a:lnTo>
                    <a:pt x="343295" y="591647"/>
                  </a:lnTo>
                  <a:lnTo>
                    <a:pt x="291602" y="583744"/>
                  </a:lnTo>
                  <a:lnTo>
                    <a:pt x="242587" y="571006"/>
                  </a:lnTo>
                  <a:lnTo>
                    <a:pt x="196721" y="553786"/>
                  </a:lnTo>
                  <a:lnTo>
                    <a:pt x="154479" y="532438"/>
                  </a:lnTo>
                  <a:lnTo>
                    <a:pt x="116334" y="507317"/>
                  </a:lnTo>
                  <a:lnTo>
                    <a:pt x="82760" y="478777"/>
                  </a:lnTo>
                  <a:lnTo>
                    <a:pt x="54228" y="447172"/>
                  </a:lnTo>
                  <a:lnTo>
                    <a:pt x="31213" y="412855"/>
                  </a:lnTo>
                  <a:lnTo>
                    <a:pt x="14188" y="376182"/>
                  </a:lnTo>
                  <a:lnTo>
                    <a:pt x="3625" y="337505"/>
                  </a:lnTo>
                  <a:lnTo>
                    <a:pt x="0" y="297179"/>
                  </a:lnTo>
                  <a:lnTo>
                    <a:pt x="3625" y="256854"/>
                  </a:lnTo>
                  <a:lnTo>
                    <a:pt x="14188" y="218177"/>
                  </a:lnTo>
                  <a:lnTo>
                    <a:pt x="31213" y="181504"/>
                  </a:lnTo>
                  <a:lnTo>
                    <a:pt x="54228" y="147187"/>
                  </a:lnTo>
                  <a:lnTo>
                    <a:pt x="82760" y="115582"/>
                  </a:lnTo>
                  <a:lnTo>
                    <a:pt x="116334" y="87041"/>
                  </a:lnTo>
                  <a:lnTo>
                    <a:pt x="154479" y="61921"/>
                  </a:lnTo>
                  <a:lnTo>
                    <a:pt x="196721" y="40573"/>
                  </a:lnTo>
                  <a:lnTo>
                    <a:pt x="242587" y="23353"/>
                  </a:lnTo>
                  <a:lnTo>
                    <a:pt x="291602" y="10615"/>
                  </a:lnTo>
                  <a:lnTo>
                    <a:pt x="343295" y="2712"/>
                  </a:lnTo>
                  <a:lnTo>
                    <a:pt x="397192" y="0"/>
                  </a:lnTo>
                  <a:close/>
                </a:path>
              </a:pathLst>
            </a:custGeom>
            <a:ln w="9524">
              <a:solidFill>
                <a:srgbClr val="4A7DB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8" name="object 48"/>
          <p:cNvGrpSpPr/>
          <p:nvPr/>
        </p:nvGrpSpPr>
        <p:grpSpPr>
          <a:xfrm>
            <a:off x="4565020" y="4082100"/>
            <a:ext cx="105410" cy="1614170"/>
            <a:chOff x="4565020" y="4082100"/>
            <a:chExt cx="105410" cy="1614170"/>
          </a:xfrm>
        </p:grpSpPr>
        <p:pic>
          <p:nvPicPr>
            <p:cNvPr id="49" name="object 49"/>
            <p:cNvPicPr/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4565020" y="4082100"/>
              <a:ext cx="105400" cy="654040"/>
            </a:xfrm>
            <a:prstGeom prst="rect">
              <a:avLst/>
            </a:prstGeom>
          </p:spPr>
        </p:pic>
        <p:pic>
          <p:nvPicPr>
            <p:cNvPr id="50" name="object 50"/>
            <p:cNvPicPr/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4565020" y="5225100"/>
              <a:ext cx="105400" cy="471160"/>
            </a:xfrm>
            <a:prstGeom prst="rect">
              <a:avLst/>
            </a:prstGeom>
          </p:spPr>
        </p:pic>
      </p:grpSp>
      <p:graphicFrame>
        <p:nvGraphicFramePr>
          <p:cNvPr id="51" name="object 51"/>
          <p:cNvGraphicFramePr>
            <a:graphicFrameLocks noGrp="1"/>
          </p:cNvGraphicFramePr>
          <p:nvPr/>
        </p:nvGraphicFramePr>
        <p:xfrm>
          <a:off x="3378517" y="3515677"/>
          <a:ext cx="2468880" cy="2100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34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372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400685">
                        <a:lnSpc>
                          <a:spcPct val="100000"/>
                        </a:lnSpc>
                      </a:pPr>
                      <a:r>
                        <a:rPr sz="13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Generate</a:t>
                      </a:r>
                      <a:r>
                        <a:rPr sz="13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charts</a:t>
                      </a:r>
                      <a:r>
                        <a:rPr sz="13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&amp;</a:t>
                      </a:r>
                      <a:r>
                        <a:rPr sz="13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trends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9525">
                      <a:solidFill>
                        <a:srgbClr val="4A7DBA"/>
                      </a:solidFill>
                      <a:prstDash val="solid"/>
                    </a:lnL>
                    <a:lnR w="9525">
                      <a:solidFill>
                        <a:srgbClr val="4A7DBA"/>
                      </a:solidFill>
                      <a:prstDash val="solid"/>
                    </a:lnR>
                    <a:lnT w="9525">
                      <a:solidFill>
                        <a:srgbClr val="4A7DBA"/>
                      </a:solidFill>
                      <a:prstDash val="solid"/>
                    </a:lnT>
                    <a:lnB w="9525">
                      <a:solidFill>
                        <a:srgbClr val="4A7DB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0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4F81BD"/>
                      </a:solidFill>
                      <a:prstDash val="solid"/>
                    </a:lnR>
                    <a:lnT w="9525">
                      <a:solidFill>
                        <a:srgbClr val="4A7DBA"/>
                      </a:solidFill>
                      <a:prstDash val="solid"/>
                    </a:lnT>
                    <a:lnB w="9525">
                      <a:solidFill>
                        <a:srgbClr val="4A7DBA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F81BD"/>
                      </a:solidFill>
                      <a:prstDash val="solid"/>
                    </a:lnL>
                    <a:lnT w="9525">
                      <a:solidFill>
                        <a:srgbClr val="4A7DBA"/>
                      </a:solidFill>
                      <a:prstDash val="solid"/>
                    </a:lnT>
                    <a:lnB w="9525">
                      <a:solidFill>
                        <a:srgbClr val="4A7DBA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3725"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  <a:p>
                      <a:pPr marL="226695">
                        <a:lnSpc>
                          <a:spcPct val="100000"/>
                        </a:lnSpc>
                      </a:pPr>
                      <a:r>
                        <a:rPr sz="13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Display</a:t>
                      </a:r>
                      <a:r>
                        <a:rPr sz="130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performance</a:t>
                      </a:r>
                      <a:r>
                        <a:rPr sz="1300" spc="-4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3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summary</a:t>
                      </a:r>
                      <a:endParaRPr sz="13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9525">
                      <a:solidFill>
                        <a:srgbClr val="4A7DBA"/>
                      </a:solidFill>
                      <a:prstDash val="solid"/>
                    </a:lnL>
                    <a:lnR w="9525">
                      <a:solidFill>
                        <a:srgbClr val="4A7DBA"/>
                      </a:solidFill>
                      <a:prstDash val="solid"/>
                    </a:lnR>
                    <a:lnT w="9525">
                      <a:solidFill>
                        <a:srgbClr val="4A7DBA"/>
                      </a:solidFill>
                      <a:prstDash val="solid"/>
                    </a:lnT>
                    <a:lnB w="9525">
                      <a:solidFill>
                        <a:srgbClr val="4A7DBA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12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R w="28575">
                      <a:solidFill>
                        <a:srgbClr val="4F81BD"/>
                      </a:solidFill>
                      <a:prstDash val="solid"/>
                    </a:lnR>
                    <a:lnT w="9525">
                      <a:solidFill>
                        <a:srgbClr val="4A7DBA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4F81BD"/>
                      </a:solidFill>
                      <a:prstDash val="solid"/>
                    </a:lnL>
                    <a:lnT w="9525">
                      <a:solidFill>
                        <a:srgbClr val="4A7DBA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52" name="object 52"/>
          <p:cNvSpPr txBox="1"/>
          <p:nvPr/>
        </p:nvSpPr>
        <p:spPr>
          <a:xfrm>
            <a:off x="4465754" y="5794248"/>
            <a:ext cx="299085" cy="238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spc="-25" dirty="0">
                <a:solidFill>
                  <a:srgbClr val="FFFFFF"/>
                </a:solidFill>
                <a:latin typeface="Calibri"/>
                <a:cs typeface="Calibri"/>
              </a:rPr>
              <a:t>End</a:t>
            </a:r>
            <a:endParaRPr sz="1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0660">
              <a:lnSpc>
                <a:spcPct val="100000"/>
              </a:lnSpc>
              <a:spcBef>
                <a:spcPts val="100"/>
              </a:spcBef>
            </a:pPr>
            <a:r>
              <a:rPr dirty="0"/>
              <a:t>5.</a:t>
            </a:r>
            <a:r>
              <a:rPr spc="-40" dirty="0"/>
              <a:t> </a:t>
            </a:r>
            <a:r>
              <a:rPr dirty="0"/>
              <a:t>Understanding</a:t>
            </a:r>
            <a:r>
              <a:rPr spc="-40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dirty="0"/>
              <a:t>Python</a:t>
            </a:r>
            <a:r>
              <a:rPr spc="-35" dirty="0"/>
              <a:t> </a:t>
            </a:r>
            <a:r>
              <a:rPr spc="-10" dirty="0"/>
              <a:t>Logic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375916" y="822961"/>
            <a:ext cx="6392166" cy="542543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6.</a:t>
            </a:r>
            <a:r>
              <a:rPr spc="-70" dirty="0"/>
              <a:t> </a:t>
            </a:r>
            <a:r>
              <a:rPr dirty="0"/>
              <a:t>Graphical</a:t>
            </a:r>
            <a:r>
              <a:rPr spc="-70" dirty="0"/>
              <a:t> </a:t>
            </a:r>
            <a:r>
              <a:rPr dirty="0"/>
              <a:t>Representation</a:t>
            </a:r>
            <a:r>
              <a:rPr spc="-70" dirty="0"/>
              <a:t> </a:t>
            </a:r>
            <a:r>
              <a:rPr dirty="0"/>
              <a:t>and</a:t>
            </a:r>
            <a:r>
              <a:rPr spc="-70" dirty="0"/>
              <a:t> </a:t>
            </a:r>
            <a:r>
              <a:rPr spc="-10" dirty="0"/>
              <a:t>Working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3100" y="1066800"/>
            <a:ext cx="5257799" cy="3915644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301625" y="5276596"/>
            <a:ext cx="8653780" cy="619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latin typeface="Arial MT"/>
                <a:cs typeface="Arial MT"/>
              </a:rPr>
              <a:t>Working:</a:t>
            </a:r>
            <a:r>
              <a:rPr sz="1300" spc="-2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Input</a:t>
            </a:r>
            <a:r>
              <a:rPr sz="1300" spc="-2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→</a:t>
            </a:r>
            <a:r>
              <a:rPr sz="1300" spc="-2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validation</a:t>
            </a:r>
            <a:r>
              <a:rPr sz="1300" spc="-2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→</a:t>
            </a:r>
            <a:r>
              <a:rPr sz="1300" spc="-2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grade</a:t>
            </a:r>
            <a:r>
              <a:rPr sz="1300" spc="-2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calculation</a:t>
            </a:r>
            <a:r>
              <a:rPr sz="1300" spc="-2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→</a:t>
            </a:r>
            <a:r>
              <a:rPr sz="1300" spc="-2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GPA/CGPA</a:t>
            </a:r>
            <a:r>
              <a:rPr sz="1300" spc="-2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calculation</a:t>
            </a:r>
            <a:r>
              <a:rPr sz="1300" spc="-2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→</a:t>
            </a:r>
            <a:r>
              <a:rPr sz="1300" spc="-2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attendance</a:t>
            </a:r>
            <a:r>
              <a:rPr sz="1300" spc="-2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analysis</a:t>
            </a:r>
            <a:r>
              <a:rPr sz="1300" spc="-2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→</a:t>
            </a:r>
            <a:r>
              <a:rPr sz="1300" spc="-2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chart</a:t>
            </a:r>
            <a:r>
              <a:rPr sz="1300" spc="-20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generation</a:t>
            </a:r>
            <a:endParaRPr sz="1300">
              <a:latin typeface="Arial MT"/>
              <a:cs typeface="Arial MT"/>
            </a:endParaRPr>
          </a:p>
          <a:p>
            <a:pPr marL="58419">
              <a:lnSpc>
                <a:spcPct val="100000"/>
              </a:lnSpc>
            </a:pPr>
            <a:r>
              <a:rPr sz="1300" dirty="0">
                <a:latin typeface="Arial MT"/>
                <a:cs typeface="Arial MT"/>
              </a:rPr>
              <a:t>→</a:t>
            </a:r>
            <a:r>
              <a:rPr sz="1300" spc="-4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final</a:t>
            </a:r>
            <a:r>
              <a:rPr sz="1300" spc="-4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academic</a:t>
            </a:r>
            <a:r>
              <a:rPr sz="1300" spc="-3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dashboard.</a:t>
            </a:r>
            <a:endParaRPr sz="1300">
              <a:latin typeface="Arial MT"/>
              <a:cs typeface="Arial MT"/>
            </a:endParaRPr>
          </a:p>
          <a:p>
            <a:pPr marL="12700">
              <a:lnSpc>
                <a:spcPct val="100000"/>
              </a:lnSpc>
            </a:pPr>
            <a:r>
              <a:rPr sz="1300" spc="-10" dirty="0">
                <a:latin typeface="Arial MT"/>
                <a:cs typeface="Arial MT"/>
              </a:rPr>
              <a:t>Illustrative</a:t>
            </a:r>
            <a:r>
              <a:rPr sz="1300" spc="-4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values</a:t>
            </a:r>
            <a:r>
              <a:rPr sz="1300" spc="-3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demonstrate</a:t>
            </a:r>
            <a:r>
              <a:rPr sz="1300" spc="-35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the</a:t>
            </a:r>
            <a:r>
              <a:rPr sz="1300" spc="-40" dirty="0">
                <a:latin typeface="Arial MT"/>
                <a:cs typeface="Arial MT"/>
              </a:rPr>
              <a:t> </a:t>
            </a:r>
            <a:r>
              <a:rPr sz="1300" dirty="0">
                <a:latin typeface="Arial MT"/>
                <a:cs typeface="Arial MT"/>
              </a:rPr>
              <a:t>intended</a:t>
            </a:r>
            <a:r>
              <a:rPr sz="1300" spc="-35" dirty="0">
                <a:latin typeface="Arial MT"/>
                <a:cs typeface="Arial MT"/>
              </a:rPr>
              <a:t> </a:t>
            </a:r>
            <a:r>
              <a:rPr sz="1300" spc="-10" dirty="0">
                <a:latin typeface="Arial MT"/>
                <a:cs typeface="Arial MT"/>
              </a:rPr>
              <a:t>visualization.</a:t>
            </a:r>
            <a:endParaRPr sz="13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576075" y="276454"/>
            <a:ext cx="4941570" cy="787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dirty="0"/>
              <a:t>7.</a:t>
            </a:r>
            <a:r>
              <a:rPr spc="-60" dirty="0"/>
              <a:t> </a:t>
            </a:r>
            <a:r>
              <a:rPr dirty="0"/>
              <a:t>GitHub</a:t>
            </a:r>
            <a:r>
              <a:rPr spc="-60" dirty="0"/>
              <a:t> </a:t>
            </a:r>
            <a:r>
              <a:rPr dirty="0"/>
              <a:t>Account,</a:t>
            </a:r>
            <a:r>
              <a:rPr spc="-60" dirty="0"/>
              <a:t> </a:t>
            </a:r>
            <a:r>
              <a:rPr dirty="0"/>
              <a:t>Repository</a:t>
            </a:r>
            <a:r>
              <a:rPr spc="-55" dirty="0"/>
              <a:t> </a:t>
            </a:r>
            <a:r>
              <a:rPr spc="-50" dirty="0"/>
              <a:t>&amp; </a:t>
            </a:r>
            <a:r>
              <a:rPr spc="-10" dirty="0"/>
              <a:t>Collaboration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01851" y="1314010"/>
            <a:ext cx="7077075" cy="33934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6080" marR="482600" indent="-374015">
              <a:lnSpc>
                <a:spcPct val="100000"/>
              </a:lnSpc>
              <a:spcBef>
                <a:spcPts val="100"/>
              </a:spcBef>
              <a:buChar char="●"/>
              <a:tabLst>
                <a:tab pos="386080" algn="l"/>
              </a:tabLst>
            </a:pPr>
            <a:r>
              <a:rPr sz="1700" dirty="0">
                <a:latin typeface="Arial MT"/>
                <a:cs typeface="Arial MT"/>
              </a:rPr>
              <a:t>Create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GitHub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Account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–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Set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up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personal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GitHub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account. </a:t>
            </a:r>
            <a:r>
              <a:rPr sz="1700" dirty="0">
                <a:latin typeface="Arial MT"/>
                <a:cs typeface="Arial MT"/>
              </a:rPr>
              <a:t>Create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Repository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–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Intelligent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Academic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Performance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Tracker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spc="-50" dirty="0">
                <a:latin typeface="Arial MT"/>
                <a:cs typeface="Arial MT"/>
              </a:rPr>
              <a:t>&amp; </a:t>
            </a:r>
            <a:r>
              <a:rPr sz="1700" spc="-10" dirty="0">
                <a:latin typeface="Arial MT"/>
                <a:cs typeface="Arial MT"/>
              </a:rPr>
              <a:t>Visualizer.</a:t>
            </a:r>
            <a:endParaRPr sz="1700">
              <a:latin typeface="Arial MT"/>
              <a:cs typeface="Arial MT"/>
            </a:endParaRPr>
          </a:p>
          <a:p>
            <a:pPr marL="386080" marR="314960">
              <a:lnSpc>
                <a:spcPct val="100000"/>
              </a:lnSpc>
            </a:pPr>
            <a:r>
              <a:rPr sz="1700" dirty="0">
                <a:latin typeface="Arial MT"/>
                <a:cs typeface="Arial MT"/>
              </a:rPr>
              <a:t>Upload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Code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–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Upload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the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Python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source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code,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requirements,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and </a:t>
            </a:r>
            <a:r>
              <a:rPr sz="1700" spc="-10" dirty="0">
                <a:latin typeface="Arial MT"/>
                <a:cs typeface="Arial MT"/>
              </a:rPr>
              <a:t>README.</a:t>
            </a:r>
            <a:endParaRPr sz="1700">
              <a:latin typeface="Arial MT"/>
              <a:cs typeface="Arial MT"/>
            </a:endParaRPr>
          </a:p>
          <a:p>
            <a:pPr marL="386080" marR="288925">
              <a:lnSpc>
                <a:spcPct val="100000"/>
              </a:lnSpc>
            </a:pPr>
            <a:r>
              <a:rPr sz="1700" spc="-10" dirty="0">
                <a:latin typeface="Arial MT"/>
                <a:cs typeface="Arial MT"/>
              </a:rPr>
              <a:t>Meaningful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Commits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–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Save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changes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with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clear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messages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such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as </a:t>
            </a:r>
            <a:r>
              <a:rPr sz="1700" dirty="0">
                <a:latin typeface="Arial MT"/>
                <a:cs typeface="Arial MT"/>
              </a:rPr>
              <a:t>“Added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GPA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calculation”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or</a:t>
            </a:r>
            <a:r>
              <a:rPr sz="1700" spc="-7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“Added</a:t>
            </a:r>
            <a:r>
              <a:rPr sz="1700" spc="-6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charts”.</a:t>
            </a:r>
            <a:endParaRPr sz="1700">
              <a:latin typeface="Arial MT"/>
              <a:cs typeface="Arial MT"/>
            </a:endParaRPr>
          </a:p>
          <a:p>
            <a:pPr marL="386080" marR="292735">
              <a:lnSpc>
                <a:spcPct val="100000"/>
              </a:lnSpc>
            </a:pPr>
            <a:r>
              <a:rPr sz="1700" spc="-10" dirty="0">
                <a:latin typeface="Arial MT"/>
                <a:cs typeface="Arial MT"/>
              </a:rPr>
              <a:t>Collaboration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–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For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teamwork,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use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repository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sharing,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branches,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25" dirty="0">
                <a:latin typeface="Arial MT"/>
                <a:cs typeface="Arial MT"/>
              </a:rPr>
              <a:t>or </a:t>
            </a:r>
            <a:r>
              <a:rPr sz="1700" dirty="0">
                <a:latin typeface="Arial MT"/>
                <a:cs typeface="Arial MT"/>
              </a:rPr>
              <a:t>pull</a:t>
            </a:r>
            <a:r>
              <a:rPr sz="1700" spc="-5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requests.</a:t>
            </a:r>
            <a:endParaRPr sz="1700">
              <a:latin typeface="Arial MT"/>
              <a:cs typeface="Arial MT"/>
            </a:endParaRPr>
          </a:p>
          <a:p>
            <a:pPr marL="386080" marR="84455">
              <a:lnSpc>
                <a:spcPct val="100000"/>
              </a:lnSpc>
            </a:pPr>
            <a:r>
              <a:rPr sz="1700" spc="-10" dirty="0">
                <a:latin typeface="Arial MT"/>
                <a:cs typeface="Arial MT"/>
              </a:rPr>
              <a:t>Individual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Contribution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–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Each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member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contributes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4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commits</a:t>
            </a:r>
            <a:r>
              <a:rPr sz="1700" spc="-4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their work.</a:t>
            </a:r>
            <a:endParaRPr sz="1700">
              <a:latin typeface="Arial MT"/>
              <a:cs typeface="Arial MT"/>
            </a:endParaRPr>
          </a:p>
          <a:p>
            <a:pPr marL="386080" marR="5080">
              <a:lnSpc>
                <a:spcPct val="100000"/>
              </a:lnSpc>
            </a:pPr>
            <a:r>
              <a:rPr sz="1700" dirty="0">
                <a:latin typeface="Arial MT"/>
                <a:cs typeface="Arial MT"/>
              </a:rPr>
              <a:t>Track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Changes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–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Use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GitHub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to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manage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versions,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issues,</a:t>
            </a:r>
            <a:r>
              <a:rPr sz="1700" spc="-55" dirty="0">
                <a:latin typeface="Arial MT"/>
                <a:cs typeface="Arial MT"/>
              </a:rPr>
              <a:t> </a:t>
            </a:r>
            <a:r>
              <a:rPr sz="1700" dirty="0">
                <a:latin typeface="Arial MT"/>
                <a:cs typeface="Arial MT"/>
              </a:rPr>
              <a:t>and</a:t>
            </a:r>
            <a:r>
              <a:rPr sz="1700" spc="-60" dirty="0">
                <a:latin typeface="Arial MT"/>
                <a:cs typeface="Arial MT"/>
              </a:rPr>
              <a:t> </a:t>
            </a:r>
            <a:r>
              <a:rPr sz="1700" spc="-10" dirty="0">
                <a:latin typeface="Arial MT"/>
                <a:cs typeface="Arial MT"/>
              </a:rPr>
              <a:t>project updates.</a:t>
            </a:r>
            <a:endParaRPr sz="17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8.</a:t>
            </a:r>
            <a:r>
              <a:rPr spc="-100" dirty="0"/>
              <a:t> </a:t>
            </a:r>
            <a:r>
              <a:rPr dirty="0"/>
              <a:t>Individual</a:t>
            </a:r>
            <a:r>
              <a:rPr spc="-100" dirty="0"/>
              <a:t> </a:t>
            </a:r>
            <a:r>
              <a:rPr spc="-10" dirty="0"/>
              <a:t>Contribution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7815" marR="791210" indent="-2857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  <a:tabLst>
                <a:tab pos="386080" algn="l"/>
              </a:tabLst>
            </a:pPr>
            <a:r>
              <a:rPr lang="en-US" dirty="0"/>
              <a:t> </a:t>
            </a:r>
            <a:r>
              <a:rPr dirty="0"/>
              <a:t>Problem</a:t>
            </a:r>
            <a:r>
              <a:rPr spc="-45" dirty="0"/>
              <a:t> </a:t>
            </a:r>
            <a:r>
              <a:rPr dirty="0"/>
              <a:t>Analysis</a:t>
            </a:r>
            <a:r>
              <a:rPr spc="-40" dirty="0"/>
              <a:t> </a:t>
            </a:r>
            <a:r>
              <a:rPr dirty="0"/>
              <a:t>–</a:t>
            </a:r>
            <a:r>
              <a:rPr spc="-40" dirty="0"/>
              <a:t> </a:t>
            </a:r>
            <a:r>
              <a:rPr spc="-10" dirty="0"/>
              <a:t>Identified</a:t>
            </a:r>
            <a:r>
              <a:rPr spc="-4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need</a:t>
            </a:r>
            <a:r>
              <a:rPr spc="-40" dirty="0"/>
              <a:t> </a:t>
            </a:r>
            <a:r>
              <a:rPr dirty="0"/>
              <a:t>for</a:t>
            </a:r>
            <a:r>
              <a:rPr spc="-40" dirty="0"/>
              <a:t> </a:t>
            </a:r>
            <a:r>
              <a:rPr dirty="0"/>
              <a:t>an</a:t>
            </a:r>
            <a:r>
              <a:rPr spc="-40" dirty="0"/>
              <a:t> </a:t>
            </a:r>
            <a:r>
              <a:rPr spc="-10" dirty="0"/>
              <a:t>automated </a:t>
            </a:r>
            <a:r>
              <a:rPr lang="en-US" spc="-10" dirty="0"/>
              <a:t>   </a:t>
            </a:r>
            <a:r>
              <a:rPr dirty="0"/>
              <a:t>academic</a:t>
            </a:r>
            <a:r>
              <a:rPr spc="-60" dirty="0"/>
              <a:t> </a:t>
            </a:r>
            <a:r>
              <a:rPr spc="-10" dirty="0"/>
              <a:t>performance</a:t>
            </a:r>
            <a:r>
              <a:rPr spc="-60" dirty="0"/>
              <a:t> </a:t>
            </a:r>
            <a:r>
              <a:rPr spc="-10" dirty="0"/>
              <a:t>tracker.</a:t>
            </a:r>
          </a:p>
          <a:p>
            <a:pPr marL="671830" marR="508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dirty="0"/>
              <a:t>Data</a:t>
            </a:r>
            <a:r>
              <a:rPr spc="-65" dirty="0"/>
              <a:t> </a:t>
            </a:r>
            <a:r>
              <a:rPr dirty="0"/>
              <a:t>Design</a:t>
            </a:r>
            <a:r>
              <a:rPr spc="-6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dirty="0"/>
              <a:t>Planned</a:t>
            </a:r>
            <a:r>
              <a:rPr spc="-65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dirty="0"/>
              <a:t>structure</a:t>
            </a:r>
            <a:r>
              <a:rPr spc="-60" dirty="0"/>
              <a:t> </a:t>
            </a:r>
            <a:r>
              <a:rPr dirty="0"/>
              <a:t>for</a:t>
            </a:r>
            <a:r>
              <a:rPr spc="-65" dirty="0"/>
              <a:t> </a:t>
            </a:r>
            <a:r>
              <a:rPr dirty="0"/>
              <a:t>subjects,</a:t>
            </a:r>
            <a:r>
              <a:rPr spc="-65" dirty="0"/>
              <a:t> </a:t>
            </a:r>
            <a:r>
              <a:rPr dirty="0"/>
              <a:t>marks,</a:t>
            </a:r>
            <a:r>
              <a:rPr spc="-60" dirty="0"/>
              <a:t> </a:t>
            </a:r>
            <a:r>
              <a:rPr spc="-10" dirty="0"/>
              <a:t>credits, attendance,</a:t>
            </a:r>
            <a:r>
              <a:rPr spc="-4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spc="-10" dirty="0"/>
              <a:t>semesters.</a:t>
            </a:r>
          </a:p>
          <a:p>
            <a:pPr marL="671830" marR="45847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dirty="0"/>
              <a:t>Python</a:t>
            </a:r>
            <a:r>
              <a:rPr spc="-75" dirty="0"/>
              <a:t> </a:t>
            </a:r>
            <a:r>
              <a:rPr dirty="0"/>
              <a:t>Coding</a:t>
            </a:r>
            <a:r>
              <a:rPr spc="-70" dirty="0"/>
              <a:t> </a:t>
            </a:r>
            <a:r>
              <a:rPr dirty="0"/>
              <a:t>–</a:t>
            </a:r>
            <a:r>
              <a:rPr spc="-70" dirty="0"/>
              <a:t> </a:t>
            </a:r>
            <a:r>
              <a:rPr spc="-10" dirty="0"/>
              <a:t>Implemented</a:t>
            </a:r>
            <a:r>
              <a:rPr spc="-70" dirty="0"/>
              <a:t> </a:t>
            </a:r>
            <a:r>
              <a:rPr dirty="0"/>
              <a:t>input</a:t>
            </a:r>
            <a:r>
              <a:rPr spc="-70" dirty="0"/>
              <a:t> </a:t>
            </a:r>
            <a:r>
              <a:rPr dirty="0"/>
              <a:t>handling,</a:t>
            </a:r>
            <a:r>
              <a:rPr spc="-70" dirty="0"/>
              <a:t> </a:t>
            </a:r>
            <a:r>
              <a:rPr dirty="0"/>
              <a:t>grading</a:t>
            </a:r>
            <a:r>
              <a:rPr spc="-70" dirty="0"/>
              <a:t> </a:t>
            </a:r>
            <a:r>
              <a:rPr spc="-10" dirty="0"/>
              <a:t>logic, GPA/CGPA</a:t>
            </a:r>
            <a:r>
              <a:rPr spc="-45" dirty="0"/>
              <a:t> </a:t>
            </a:r>
            <a:r>
              <a:rPr spc="-10" dirty="0"/>
              <a:t>calculations,</a:t>
            </a:r>
            <a:r>
              <a:rPr spc="-40" dirty="0"/>
              <a:t> </a:t>
            </a:r>
            <a:r>
              <a:rPr dirty="0"/>
              <a:t>and</a:t>
            </a:r>
            <a:r>
              <a:rPr spc="-40" dirty="0"/>
              <a:t> </a:t>
            </a:r>
            <a:r>
              <a:rPr spc="-10" dirty="0"/>
              <a:t>validation.</a:t>
            </a:r>
          </a:p>
          <a:p>
            <a:pPr marL="671830" marR="60325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pc="-10" dirty="0"/>
              <a:t>Visualization</a:t>
            </a:r>
            <a:r>
              <a:rPr spc="-40" dirty="0"/>
              <a:t> </a:t>
            </a:r>
            <a:r>
              <a:rPr dirty="0"/>
              <a:t>–</a:t>
            </a:r>
            <a:r>
              <a:rPr spc="-35" dirty="0"/>
              <a:t> </a:t>
            </a:r>
            <a:r>
              <a:rPr dirty="0"/>
              <a:t>Created</a:t>
            </a:r>
            <a:r>
              <a:rPr spc="-35" dirty="0"/>
              <a:t> </a:t>
            </a:r>
            <a:r>
              <a:rPr spc="-20" dirty="0"/>
              <a:t>subject-</a:t>
            </a:r>
            <a:r>
              <a:rPr dirty="0"/>
              <a:t>wise</a:t>
            </a:r>
            <a:r>
              <a:rPr spc="-40" dirty="0"/>
              <a:t> </a:t>
            </a:r>
            <a:r>
              <a:rPr spc="-10" dirty="0"/>
              <a:t>performance</a:t>
            </a:r>
            <a:r>
              <a:rPr spc="-35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spc="-10" dirty="0"/>
              <a:t>semester </a:t>
            </a:r>
            <a:r>
              <a:rPr dirty="0"/>
              <a:t>trend</a:t>
            </a:r>
            <a:r>
              <a:rPr spc="-65" dirty="0"/>
              <a:t> </a:t>
            </a:r>
            <a:r>
              <a:rPr spc="-10" dirty="0"/>
              <a:t>charts.</a:t>
            </a:r>
          </a:p>
          <a:p>
            <a:pPr marL="671830" marR="76200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dirty="0"/>
              <a:t>Testing</a:t>
            </a:r>
            <a:r>
              <a:rPr spc="-75" dirty="0"/>
              <a:t> </a:t>
            </a:r>
            <a:r>
              <a:rPr dirty="0"/>
              <a:t>–</a:t>
            </a:r>
            <a:r>
              <a:rPr spc="-70" dirty="0"/>
              <a:t> </a:t>
            </a:r>
            <a:r>
              <a:rPr dirty="0"/>
              <a:t>Tested</a:t>
            </a:r>
            <a:r>
              <a:rPr spc="-75" dirty="0"/>
              <a:t> </a:t>
            </a:r>
            <a:r>
              <a:rPr dirty="0"/>
              <a:t>calculations</a:t>
            </a:r>
            <a:r>
              <a:rPr spc="-70" dirty="0"/>
              <a:t> </a:t>
            </a:r>
            <a:r>
              <a:rPr dirty="0"/>
              <a:t>using</a:t>
            </a:r>
            <a:r>
              <a:rPr spc="-75" dirty="0"/>
              <a:t> </a:t>
            </a:r>
            <a:r>
              <a:rPr dirty="0"/>
              <a:t>different</a:t>
            </a:r>
            <a:r>
              <a:rPr spc="-70" dirty="0"/>
              <a:t> </a:t>
            </a:r>
            <a:r>
              <a:rPr dirty="0"/>
              <a:t>marks,</a:t>
            </a:r>
            <a:r>
              <a:rPr spc="-75" dirty="0"/>
              <a:t> </a:t>
            </a:r>
            <a:r>
              <a:rPr dirty="0"/>
              <a:t>credits,</a:t>
            </a:r>
            <a:r>
              <a:rPr spc="-70" dirty="0"/>
              <a:t> </a:t>
            </a:r>
            <a:r>
              <a:rPr spc="-25" dirty="0"/>
              <a:t>and </a:t>
            </a:r>
            <a:r>
              <a:rPr spc="-10" dirty="0"/>
              <a:t>attendance</a:t>
            </a:r>
            <a:r>
              <a:rPr spc="-35" dirty="0"/>
              <a:t> </a:t>
            </a:r>
            <a:r>
              <a:rPr spc="-10" dirty="0"/>
              <a:t>values.</a:t>
            </a:r>
          </a:p>
          <a:p>
            <a:pPr marL="671830" marR="443865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dirty="0"/>
              <a:t>GitHub</a:t>
            </a:r>
            <a:r>
              <a:rPr spc="-60" dirty="0"/>
              <a:t> </a:t>
            </a:r>
            <a:r>
              <a:rPr spc="-10" dirty="0"/>
              <a:t>Contribution</a:t>
            </a:r>
            <a:r>
              <a:rPr spc="-60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Uploaded</a:t>
            </a:r>
            <a:r>
              <a:rPr spc="-60" dirty="0"/>
              <a:t> </a:t>
            </a:r>
            <a:r>
              <a:rPr dirty="0"/>
              <a:t>code</a:t>
            </a:r>
            <a:r>
              <a:rPr spc="-55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dirty="0"/>
              <a:t>made</a:t>
            </a:r>
            <a:r>
              <a:rPr spc="-60" dirty="0"/>
              <a:t> </a:t>
            </a:r>
            <a:r>
              <a:rPr spc="-10" dirty="0"/>
              <a:t>meaningful commits.</a:t>
            </a:r>
          </a:p>
          <a:p>
            <a:pPr marL="671830" marR="301625" indent="-28575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spc="-10" dirty="0"/>
              <a:t>Documentation</a:t>
            </a:r>
            <a:r>
              <a:rPr spc="-55" dirty="0"/>
              <a:t> </a:t>
            </a:r>
            <a:r>
              <a:rPr dirty="0"/>
              <a:t>&amp;</a:t>
            </a:r>
            <a:r>
              <a:rPr spc="-55" dirty="0"/>
              <a:t> </a:t>
            </a:r>
            <a:r>
              <a:rPr dirty="0"/>
              <a:t>PPT</a:t>
            </a:r>
            <a:r>
              <a:rPr spc="-50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Prepared</a:t>
            </a:r>
            <a:r>
              <a:rPr spc="-55" dirty="0"/>
              <a:t> </a:t>
            </a:r>
            <a:r>
              <a:rPr dirty="0"/>
              <a:t>project</a:t>
            </a:r>
            <a:r>
              <a:rPr spc="-50" dirty="0"/>
              <a:t> </a:t>
            </a:r>
            <a:r>
              <a:rPr spc="-10" dirty="0"/>
              <a:t>documentation</a:t>
            </a:r>
            <a:r>
              <a:rPr spc="-55" dirty="0"/>
              <a:t> </a:t>
            </a:r>
            <a:r>
              <a:rPr spc="-25" dirty="0"/>
              <a:t>and </a:t>
            </a:r>
            <a:r>
              <a:rPr spc="-10" dirty="0"/>
              <a:t>presentation</a:t>
            </a:r>
            <a:r>
              <a:rPr spc="-35" dirty="0"/>
              <a:t> </a:t>
            </a:r>
            <a:r>
              <a:rPr spc="-10" dirty="0"/>
              <a:t>slides.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100"/>
              </a:spcBef>
            </a:pPr>
            <a:r>
              <a:rPr dirty="0"/>
              <a:t>9.</a:t>
            </a:r>
            <a:r>
              <a:rPr spc="-25" dirty="0"/>
              <a:t> </a:t>
            </a:r>
            <a:r>
              <a:rPr dirty="0"/>
              <a:t>Result</a:t>
            </a:r>
            <a:r>
              <a:rPr spc="-20" dirty="0"/>
              <a:t> </a:t>
            </a:r>
            <a:r>
              <a:rPr dirty="0"/>
              <a:t>/</a:t>
            </a:r>
            <a:r>
              <a:rPr spc="-25" dirty="0"/>
              <a:t> </a:t>
            </a:r>
            <a:r>
              <a:rPr dirty="0"/>
              <a:t>Expected</a:t>
            </a:r>
            <a:r>
              <a:rPr spc="-20" dirty="0"/>
              <a:t> </a:t>
            </a:r>
            <a:r>
              <a:rPr spc="-10" dirty="0"/>
              <a:t>Output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447800"/>
            <a:ext cx="4875762" cy="335295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374" y="317894"/>
            <a:ext cx="6243320" cy="384721"/>
          </a:xfrm>
        </p:spPr>
        <p:txBody>
          <a:bodyPr/>
          <a:lstStyle/>
          <a:p>
            <a:r>
              <a:rPr dirty="0"/>
              <a:t>1. Phase </a:t>
            </a:r>
            <a:r>
              <a:rPr lang="en-US" dirty="0"/>
              <a:t>2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1190324" y="1524000"/>
            <a:ext cx="6505876" cy="31239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9890" indent="-377825">
              <a:spcBef>
                <a:spcPts val="1400"/>
              </a:spcBef>
              <a:buChar char="●"/>
            </a:pPr>
            <a:r>
              <a:rPr sz="1800" b="0" dirty="0">
                <a:latin typeface="Arial MT"/>
              </a:rPr>
              <a:t>Problem: manually calculating grades, GPA/CGPA and attendance is slow and error-prone.</a:t>
            </a:r>
          </a:p>
          <a:p>
            <a:pPr marL="389890" indent="-377825">
              <a:spcBef>
                <a:spcPts val="1400"/>
              </a:spcBef>
              <a:buChar char="●"/>
            </a:pPr>
            <a:r>
              <a:rPr sz="1800" b="0" dirty="0">
                <a:latin typeface="Arial MT"/>
              </a:rPr>
              <a:t>Objective: a Python application that calculates results and visualizes academic performance.</a:t>
            </a:r>
          </a:p>
          <a:p>
            <a:pPr marL="389890" indent="-377825">
              <a:spcBef>
                <a:spcPts val="1400"/>
              </a:spcBef>
              <a:buChar char="●"/>
            </a:pPr>
            <a:r>
              <a:rPr sz="1800" b="0" dirty="0">
                <a:latin typeface="Arial MT"/>
              </a:rPr>
              <a:t>Phase 1 completed: problem statement, algorithm, flowchart, Python logic, sample chart and GitHub repository.</a:t>
            </a:r>
          </a:p>
          <a:p>
            <a:pPr marL="389890" indent="-377825">
              <a:spcBef>
                <a:spcPts val="1400"/>
              </a:spcBef>
              <a:buChar char="●"/>
            </a:pPr>
            <a:r>
              <a:rPr sz="1800" b="0" dirty="0">
                <a:latin typeface="Arial MT"/>
              </a:rPr>
              <a:t>Phase 2 focus: working modules, code implementation, visualization output and GitHub collaboration.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6225E0C-8E71-3A2C-278F-47F2CBCE5E2F}"/>
              </a:ext>
            </a:extLst>
          </p:cNvPr>
          <p:cNvSpPr txBox="1"/>
          <p:nvPr/>
        </p:nvSpPr>
        <p:spPr>
          <a:xfrm>
            <a:off x="1219200" y="771086"/>
            <a:ext cx="2286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1 recap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2. Project Progress (Work Done ~70%)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85800" y="944878"/>
          <a:ext cx="8153400" cy="496824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421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84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68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709749">
                <a:tc>
                  <a:txBody>
                    <a:bodyPr/>
                    <a:lstStyle/>
                    <a:p>
                      <a:r>
                        <a:rPr sz="1300" b="1" dirty="0">
                          <a:solidFill>
                            <a:srgbClr val="FFFFFF"/>
                          </a:solidFill>
                          <a:latin typeface="Arial MT"/>
                        </a:rPr>
                        <a:t>Module</a:t>
                      </a:r>
                    </a:p>
                  </a:txBody>
                  <a:tcPr anchor="ctr">
                    <a:solidFill>
                      <a:srgbClr val="8FA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 MT"/>
                        </a:rPr>
                        <a:t>Work Done</a:t>
                      </a:r>
                    </a:p>
                  </a:txBody>
                  <a:tcPr anchor="ctr">
                    <a:solidFill>
                      <a:srgbClr val="8FA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Arial MT"/>
                        </a:rPr>
                        <a:t>Status</a:t>
                      </a:r>
                    </a:p>
                  </a:txBody>
                  <a:tcPr anchor="ctr">
                    <a:solidFill>
                      <a:srgbClr val="8FA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974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 MT"/>
                        </a:rPr>
                        <a:t>Input &amp; Validation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 MT"/>
                        </a:rPr>
                        <a:t>Student, marks, credits and attendance entry with range checks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 MT"/>
                        </a:rPr>
                        <a:t>Completed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0974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 MT"/>
                        </a:rPr>
                        <a:t>Grade &amp; GPA Engine</a:t>
                      </a:r>
                    </a:p>
                  </a:txBody>
                  <a:tcPr anchor="ctr"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 MT"/>
                        </a:rPr>
                        <a:t>Grades, grade points, semester GPA and CGPA</a:t>
                      </a:r>
                    </a:p>
                  </a:txBody>
                  <a:tcPr anchor="ctr"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 MT"/>
                        </a:rPr>
                        <a:t>Completed</a:t>
                      </a:r>
                    </a:p>
                  </a:txBody>
                  <a:tcPr anchor="ctr">
                    <a:solidFill>
                      <a:srgbClr val="EE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0974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 MT"/>
                        </a:rPr>
                        <a:t>Attendance Analysis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 MT"/>
                        </a:rPr>
                        <a:t>Attendance % and eligibility status per subject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 MT"/>
                        </a:rPr>
                        <a:t>Completed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0974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 MT"/>
                        </a:rPr>
                        <a:t>Visualization</a:t>
                      </a:r>
                    </a:p>
                  </a:txBody>
                  <a:tcPr anchor="ctr"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 MT"/>
                        </a:rPr>
                        <a:t>Subject-wise bar chart and semester GPA trend</a:t>
                      </a:r>
                    </a:p>
                  </a:txBody>
                  <a:tcPr anchor="ctr"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 MT"/>
                        </a:rPr>
                        <a:t>Completed</a:t>
                      </a:r>
                    </a:p>
                  </a:txBody>
                  <a:tcPr anchor="ctr">
                    <a:solidFill>
                      <a:srgbClr val="EE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974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 MT"/>
                        </a:rPr>
                        <a:t>Data Storage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 MT"/>
                        </a:rPr>
                        <a:t>Saving and loading academic records in CSV files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 MT"/>
                        </a:rPr>
                        <a:t>In Progress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9749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000000"/>
                          </a:solidFill>
                          <a:latin typeface="Arial MT"/>
                        </a:rPr>
                        <a:t>Summary Report</a:t>
                      </a:r>
                    </a:p>
                  </a:txBody>
                  <a:tcPr anchor="ctr"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000000"/>
                          </a:solidFill>
                          <a:latin typeface="Arial MT"/>
                        </a:rPr>
                        <a:t>Final dashboard and report export</a:t>
                      </a:r>
                    </a:p>
                  </a:txBody>
                  <a:tcPr anchor="ctr"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dirty="0">
                          <a:solidFill>
                            <a:srgbClr val="000000"/>
                          </a:solidFill>
                          <a:latin typeface="Arial MT"/>
                        </a:rPr>
                        <a:t>Pending</a:t>
                      </a:r>
                    </a:p>
                  </a:txBody>
                  <a:tcPr anchor="ctr">
                    <a:solidFill>
                      <a:srgbClr val="EE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3. Project Structure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73152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89890" indent="-377825">
              <a:spcBef>
                <a:spcPts val="900"/>
              </a:spcBef>
              <a:buChar char="●"/>
            </a:pPr>
            <a:r>
              <a:rPr sz="1600" b="0">
                <a:latin typeface="Arial MT"/>
              </a:rPr>
              <a:t>Modular design: each file has one responsibility, which makes testing and collaboration easier.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E3503EA-170F-C1F4-71A8-D670DA45AC1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500" t="8519" r="10000" b="10000"/>
          <a:stretch>
            <a:fillRect/>
          </a:stretch>
        </p:blipFill>
        <p:spPr>
          <a:xfrm>
            <a:off x="445087" y="876694"/>
            <a:ext cx="8253826" cy="514310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374" y="317894"/>
            <a:ext cx="6243320" cy="384721"/>
          </a:xfrm>
        </p:spPr>
        <p:txBody>
          <a:bodyPr/>
          <a:lstStyle/>
          <a:p>
            <a:r>
              <a:rPr lang="en-US" dirty="0"/>
              <a:t>4</a:t>
            </a:r>
            <a:r>
              <a:rPr dirty="0"/>
              <a:t>. Testing, Challenges &amp; Next Steps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2094" y="1143000"/>
            <a:ext cx="7339812" cy="37651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700"/>
              </a:spcBef>
              <a:buNone/>
            </a:pPr>
            <a:r>
              <a:rPr sz="1600" b="1" dirty="0">
                <a:latin typeface="Arial MT"/>
              </a:rPr>
              <a:t>Testing done so far</a:t>
            </a:r>
          </a:p>
          <a:p>
            <a:pPr marL="389890" indent="-377825">
              <a:spcBef>
                <a:spcPts val="700"/>
              </a:spcBef>
              <a:buChar char="●"/>
            </a:pPr>
            <a:r>
              <a:rPr sz="1600" b="0" dirty="0">
                <a:latin typeface="Arial MT"/>
              </a:rPr>
              <a:t>GPA/CGPA checked against manual calculations with different marks and credits.</a:t>
            </a:r>
          </a:p>
          <a:p>
            <a:pPr marL="389890" indent="-377825">
              <a:spcBef>
                <a:spcPts val="700"/>
              </a:spcBef>
              <a:buChar char="●"/>
            </a:pPr>
            <a:r>
              <a:rPr sz="1600" b="0" dirty="0">
                <a:latin typeface="Arial MT"/>
              </a:rPr>
              <a:t>Invalid inputs (negative marks, attendance above 100) handled by validation.</a:t>
            </a:r>
            <a:endParaRPr lang="en-US" sz="1600" b="0" dirty="0">
              <a:latin typeface="Arial MT"/>
            </a:endParaRPr>
          </a:p>
          <a:p>
            <a:pPr marL="389890" indent="-377825">
              <a:spcBef>
                <a:spcPts val="700"/>
              </a:spcBef>
              <a:buChar char="●"/>
            </a:pPr>
            <a:endParaRPr sz="1600" b="0" dirty="0">
              <a:latin typeface="Arial MT"/>
            </a:endParaRPr>
          </a:p>
          <a:p>
            <a:pPr marL="0" indent="0">
              <a:spcBef>
                <a:spcPts val="700"/>
              </a:spcBef>
              <a:buNone/>
            </a:pPr>
            <a:r>
              <a:rPr sz="1600" b="1" dirty="0">
                <a:latin typeface="Arial MT"/>
              </a:rPr>
              <a:t>Challenges faced</a:t>
            </a:r>
          </a:p>
          <a:p>
            <a:pPr marL="389890" indent="-377825">
              <a:spcBef>
                <a:spcPts val="700"/>
              </a:spcBef>
              <a:buChar char="●"/>
            </a:pPr>
            <a:r>
              <a:rPr sz="1600" b="0" dirty="0">
                <a:latin typeface="Arial MT"/>
              </a:rPr>
              <a:t>Handling different credit values while computing weighted GPA and CGPA.</a:t>
            </a:r>
            <a:endParaRPr lang="en-US" sz="1600" b="0" dirty="0">
              <a:latin typeface="Arial MT"/>
            </a:endParaRPr>
          </a:p>
          <a:p>
            <a:pPr marL="389890" indent="-377825">
              <a:spcBef>
                <a:spcPts val="700"/>
              </a:spcBef>
              <a:buChar char="●"/>
            </a:pPr>
            <a:endParaRPr sz="1600" b="0" dirty="0">
              <a:latin typeface="Arial MT"/>
            </a:endParaRPr>
          </a:p>
          <a:p>
            <a:pPr marL="0" indent="0">
              <a:spcBef>
                <a:spcPts val="700"/>
              </a:spcBef>
              <a:buNone/>
            </a:pPr>
            <a:r>
              <a:rPr sz="1600" b="1" dirty="0">
                <a:latin typeface="Arial MT"/>
              </a:rPr>
              <a:t>Phase 3 plan</a:t>
            </a:r>
          </a:p>
          <a:p>
            <a:pPr marL="389890" indent="-377825">
              <a:spcBef>
                <a:spcPts val="700"/>
              </a:spcBef>
              <a:buChar char="●"/>
            </a:pPr>
            <a:r>
              <a:rPr sz="1600" b="0" dirty="0">
                <a:latin typeface="Arial MT"/>
              </a:rPr>
              <a:t>Finish CSV storage and report export, complete final testing and deploy the project.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67FB0-B6BB-3625-317F-8A266B81C2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374" y="317894"/>
            <a:ext cx="7796626" cy="769441"/>
          </a:xfrm>
        </p:spPr>
        <p:txBody>
          <a:bodyPr/>
          <a:lstStyle/>
          <a:p>
            <a:r>
              <a:rPr lang="en-US" dirty="0"/>
              <a:t>5. Input data &amp; Graphical Representation: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B1C9E5-C5CC-500A-6569-743DD9D7196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D6394E-71EF-47C4-E5D8-BF59AE5E36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914400"/>
            <a:ext cx="4831442" cy="51119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2B39DA6-02CA-FF3B-C2FC-D08893F2F6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36242" y="912522"/>
            <a:ext cx="3779158" cy="5031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78494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374" y="317894"/>
            <a:ext cx="6243320" cy="384721"/>
          </a:xfrm>
        </p:spPr>
        <p:txBody>
          <a:bodyPr/>
          <a:lstStyle/>
          <a:p>
            <a:r>
              <a:rPr lang="en-US" dirty="0"/>
              <a:t>1</a:t>
            </a:r>
            <a:r>
              <a:rPr dirty="0"/>
              <a:t>. Phase 3 – Final Implementation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38200" y="1295400"/>
            <a:ext cx="74676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Phase 3 Goal: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the academic performance tracker with reliable calculations, data storage, final reporting, and deployment.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Completed: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student and subject inputs, validation, grades, grade points, GPA/CGPA, attendance eligibility, and performance charts.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improvements: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and load records using prepare a clear academic summary.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stage: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 end-to-end tests, fix errors, and prepare the project for demonstration.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374" y="317894"/>
            <a:ext cx="6243320" cy="384721"/>
          </a:xfrm>
        </p:spPr>
        <p:txBody>
          <a:bodyPr/>
          <a:lstStyle/>
          <a:p>
            <a:r>
              <a:rPr lang="en-US" dirty="0"/>
              <a:t>2</a:t>
            </a:r>
            <a:r>
              <a:rPr dirty="0"/>
              <a:t>. Project Progress (Target: 100%)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73342" y="914400"/>
          <a:ext cx="8189658" cy="510539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252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043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31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80720">
                <a:tc>
                  <a:txBody>
                    <a:bodyPr/>
                    <a:lstStyle/>
                    <a:p>
                      <a:r>
                        <a:rPr dirty="0"/>
                        <a:t>Module</a:t>
                      </a:r>
                    </a:p>
                  </a:txBody>
                  <a:tcPr anchor="ctr">
                    <a:solidFill>
                      <a:srgbClr val="8FA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Final Work</a:t>
                      </a:r>
                    </a:p>
                  </a:txBody>
                  <a:tcPr anchor="ctr">
                    <a:solidFill>
                      <a:srgbClr val="8FA9A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 anchor="ctr">
                    <a:solidFill>
                      <a:srgbClr val="8FA9A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0720">
                <a:tc>
                  <a:txBody>
                    <a:bodyPr/>
                    <a:lstStyle/>
                    <a:p>
                      <a:r>
                        <a:t>Input &amp; Validation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Student details and range checks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Completed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94173">
                <a:tc>
                  <a:txBody>
                    <a:bodyPr/>
                    <a:lstStyle/>
                    <a:p>
                      <a:r>
                        <a:t>Grade &amp; GPA Engine</a:t>
                      </a:r>
                    </a:p>
                  </a:txBody>
                  <a:tcPr anchor="ctr"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Grades, grade points, GPA and CGPA</a:t>
                      </a:r>
                    </a:p>
                  </a:txBody>
                  <a:tcPr anchor="ctr"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Completed</a:t>
                      </a:r>
                    </a:p>
                  </a:txBody>
                  <a:tcPr anchor="ctr">
                    <a:solidFill>
                      <a:srgbClr val="EE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94173">
                <a:tc>
                  <a:txBody>
                    <a:bodyPr/>
                    <a:lstStyle/>
                    <a:p>
                      <a:r>
                        <a:t>Attendance Analysis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Attendance percentage and eligibility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Completed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0720">
                <a:tc>
                  <a:txBody>
                    <a:bodyPr/>
                    <a:lstStyle/>
                    <a:p>
                      <a:r>
                        <a:t>Visualization</a:t>
                      </a:r>
                    </a:p>
                  </a:txBody>
                  <a:tcPr anchor="ctr"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Marks and GPA performance charts</a:t>
                      </a:r>
                    </a:p>
                  </a:txBody>
                  <a:tcPr anchor="ctr"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Completed</a:t>
                      </a:r>
                    </a:p>
                  </a:txBody>
                  <a:tcPr anchor="ctr">
                    <a:solidFill>
                      <a:srgbClr val="EE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0720">
                <a:tc>
                  <a:txBody>
                    <a:bodyPr/>
                    <a:lstStyle/>
                    <a:p>
                      <a:r>
                        <a:t>Data Storage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Save and load records using CSV files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Completed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94173">
                <a:tc>
                  <a:txBody>
                    <a:bodyPr/>
                    <a:lstStyle/>
                    <a:p>
                      <a:r>
                        <a:t>Summary Report</a:t>
                      </a:r>
                    </a:p>
                  </a:txBody>
                  <a:tcPr anchor="ctr"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Final academic summary and report output</a:t>
                      </a:r>
                    </a:p>
                  </a:txBody>
                  <a:tcPr anchor="ctr">
                    <a:solidFill>
                      <a:srgbClr val="EEF3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dirty="0"/>
                        <a:t>Completed</a:t>
                      </a:r>
                    </a:p>
                  </a:txBody>
                  <a:tcPr anchor="ctr">
                    <a:solidFill>
                      <a:srgbClr val="EEF3F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5374" y="317894"/>
            <a:ext cx="6243320" cy="384721"/>
          </a:xfrm>
        </p:spPr>
        <p:txBody>
          <a:bodyPr/>
          <a:lstStyle/>
          <a:p>
            <a:r>
              <a:rPr lang="en-US" dirty="0"/>
              <a:t>3</a:t>
            </a:r>
            <a:r>
              <a:rPr dirty="0"/>
              <a:t>. Final Testing &amp;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3494" y="914400"/>
            <a:ext cx="7797012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b="1" dirty="0"/>
              <a:t>Final testing completed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dirty="0"/>
          </a:p>
          <a:p>
            <a:r>
              <a:rPr dirty="0"/>
              <a:t>Checked grade, percentage, GPA/CGPA, and attendance </a:t>
            </a:r>
            <a:r>
              <a:rPr lang="en-US" dirty="0"/>
              <a:t>                            </a:t>
            </a:r>
            <a:r>
              <a:rPr dirty="0"/>
              <a:t>calculations with sample records.</a:t>
            </a:r>
          </a:p>
          <a:p>
            <a:r>
              <a:rPr dirty="0"/>
              <a:t>Tested invalid marks, negative values, and attendance outside the 0–100 range.</a:t>
            </a:r>
          </a:p>
          <a:p>
            <a:r>
              <a:rPr dirty="0"/>
              <a:t>Verified that charts and the academic summary display the entered data.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b="1" dirty="0"/>
              <a:t>Data handling</a:t>
            </a:r>
            <a:endParaRPr lang="en-US" b="1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dirty="0"/>
          </a:p>
          <a:p>
            <a:r>
              <a:rPr dirty="0"/>
              <a:t>CSV storage supports saving and loading student records for later use.</a:t>
            </a:r>
          </a:p>
          <a:p>
            <a:r>
              <a:rPr dirty="0"/>
              <a:t>Deployment plan</a:t>
            </a:r>
          </a:p>
          <a:p>
            <a:r>
              <a:rPr dirty="0"/>
              <a:t>Upload the project code and requirements to GitHub, then deploy the web version using </a:t>
            </a:r>
            <a:r>
              <a:rPr dirty="0" err="1"/>
              <a:t>Streamlit</a:t>
            </a:r>
            <a:r>
              <a:rPr dirty="0"/>
              <a:t> Community Cloud.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6BE86-3CCB-39C3-FCDB-7185284ED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374" y="317894"/>
            <a:ext cx="6243320" cy="384721"/>
          </a:xfrm>
        </p:spPr>
        <p:txBody>
          <a:bodyPr/>
          <a:lstStyle/>
          <a:p>
            <a:r>
              <a:rPr lang="en-US" dirty="0"/>
              <a:t>4. Input details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0C0CEF-37CD-E844-B85C-43E9AF0766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B41A6E6-1E25-AB12-A36E-74B1DB9157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226" r="3883" b="1408"/>
          <a:stretch>
            <a:fillRect/>
          </a:stretch>
        </p:blipFill>
        <p:spPr>
          <a:xfrm>
            <a:off x="838200" y="990600"/>
            <a:ext cx="7543800" cy="518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2563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178EB-883C-C976-BD02-146BE5E5A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5374" y="317894"/>
            <a:ext cx="6243320" cy="384721"/>
          </a:xfrm>
        </p:spPr>
        <p:txBody>
          <a:bodyPr/>
          <a:lstStyle/>
          <a:p>
            <a:r>
              <a:rPr lang="en-US" dirty="0"/>
              <a:t>5. Graphical Representation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55E177-7494-4922-A35C-40C6A2F9962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905C50-93EA-D72C-D415-C214015A8B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060" r="624" b="8669"/>
          <a:stretch>
            <a:fillRect/>
          </a:stretch>
        </p:blipFill>
        <p:spPr>
          <a:xfrm>
            <a:off x="585374" y="990600"/>
            <a:ext cx="8278052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136149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/>
              <a:t>6</a:t>
            </a:r>
            <a:r>
              <a:rPr dirty="0"/>
              <a:t>. Final Result &amp; Conclusion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8939792-CF5D-ADBD-2AF5-311AF45830B7}"/>
              </a:ext>
            </a:extLst>
          </p:cNvPr>
          <p:cNvSpPr txBox="1"/>
          <p:nvPr/>
        </p:nvSpPr>
        <p:spPr>
          <a:xfrm>
            <a:off x="762000" y="914400"/>
            <a:ext cx="79248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en-IN" b="1" dirty="0"/>
              <a:t>Final Result: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Developed the final version of the Intelligent Academic Performance Tracker &amp; Visualizer.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Implemented student data validation, grade calculation, GPA/CGPA calculation, and attendance analysis. 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dirty="0"/>
              <a:t>Generated graphical representations to compare subject-wise marks and academic performance trends.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dirty="0"/>
          </a:p>
          <a:p>
            <a:pPr lvl="0"/>
            <a:endParaRPr lang="en-IN" dirty="0"/>
          </a:p>
          <a:p>
            <a:r>
              <a:rPr lang="en-IN" b="1" dirty="0"/>
              <a:t>Conclusion :</a:t>
            </a:r>
          </a:p>
          <a:p>
            <a:r>
              <a:rPr lang="en-IN" dirty="0"/>
              <a:t>The project aims to simplify academic performance tracking by automating grade calculations, GPA/CGPA analysis, and attendance monitoring. Graphical visualization helps students identify their strengths and weaknesses. Phase 3 focuses on final testing, data storage, report generation, and deployment to make the application more reliable and user-friendly.</a:t>
            </a:r>
          </a:p>
          <a:p>
            <a:pPr lvl="0"/>
            <a:endParaRPr lang="en-IN" dirty="0"/>
          </a:p>
          <a:p>
            <a:endParaRPr lang="en-IN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429000" y="2438400"/>
            <a:ext cx="2002154" cy="513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dirty="0">
                <a:solidFill>
                  <a:srgbClr val="0070C0"/>
                </a:solidFill>
                <a:latin typeface="Times New Roman"/>
                <a:cs typeface="Times New Roman"/>
              </a:rPr>
              <a:t>Thank</a:t>
            </a:r>
            <a:r>
              <a:rPr sz="3200" spc="-25" dirty="0">
                <a:solidFill>
                  <a:srgbClr val="0070C0"/>
                </a:solidFill>
                <a:latin typeface="Times New Roman"/>
                <a:cs typeface="Times New Roman"/>
              </a:rPr>
              <a:t> You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5801" y="3306414"/>
            <a:ext cx="8001000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Arial"/>
                <a:cs typeface="Arial"/>
              </a:rPr>
              <a:t>Intelligent</a:t>
            </a:r>
            <a:r>
              <a:rPr sz="2400" b="1" spc="-60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Academic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Performance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dirty="0">
                <a:latin typeface="Arial"/>
                <a:cs typeface="Arial"/>
              </a:rPr>
              <a:t>Tracker</a:t>
            </a:r>
            <a:r>
              <a:rPr sz="2400" b="1" spc="-55" dirty="0">
                <a:latin typeface="Arial"/>
                <a:cs typeface="Arial"/>
              </a:rPr>
              <a:t> </a:t>
            </a:r>
            <a:r>
              <a:rPr sz="2400" b="1" spc="-50" dirty="0">
                <a:latin typeface="Arial"/>
                <a:cs typeface="Arial"/>
              </a:rPr>
              <a:t>&amp; </a:t>
            </a:r>
            <a:r>
              <a:rPr sz="2400" b="1" spc="-10" dirty="0">
                <a:latin typeface="Arial"/>
                <a:cs typeface="Arial"/>
              </a:rPr>
              <a:t>Visualizer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</TotalTime>
  <Words>1286</Words>
  <Application>Microsoft Office PowerPoint</Application>
  <PresentationFormat>On-screen Show (4:3)</PresentationFormat>
  <Paragraphs>170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8" baseType="lpstr">
      <vt:lpstr>Arial</vt:lpstr>
      <vt:lpstr>Arial MT</vt:lpstr>
      <vt:lpstr>Calibri</vt:lpstr>
      <vt:lpstr>Times New Roman</vt:lpstr>
      <vt:lpstr>Office Theme</vt:lpstr>
      <vt:lpstr>   “IntelligentAcademicPerformance</vt:lpstr>
      <vt:lpstr>Contents</vt:lpstr>
      <vt:lpstr>1. Problem Statement</vt:lpstr>
      <vt:lpstr>2. Objective</vt:lpstr>
      <vt:lpstr>3. Algorithm</vt:lpstr>
      <vt:lpstr>4. Flowchart</vt:lpstr>
      <vt:lpstr>5. Understanding of Python Logic</vt:lpstr>
      <vt:lpstr>6. Graphical Representation and Working</vt:lpstr>
      <vt:lpstr>7. GitHub Account, Repository &amp; Collaboration</vt:lpstr>
      <vt:lpstr>8. Individual Contribution</vt:lpstr>
      <vt:lpstr>9. Result / Expected Output</vt:lpstr>
      <vt:lpstr>1. Phase 2</vt:lpstr>
      <vt:lpstr>2. Project Progress (Work Done ~70%)</vt:lpstr>
      <vt:lpstr>3. Project Structure</vt:lpstr>
      <vt:lpstr>4. Testing, Challenges &amp; Next Steps</vt:lpstr>
      <vt:lpstr>5. Input data &amp; Graphical Representation:</vt:lpstr>
      <vt:lpstr>1. Phase 3 – Final Implementation</vt:lpstr>
      <vt:lpstr>2. Project Progress (Target: 100%)</vt:lpstr>
      <vt:lpstr>3. Final Testing &amp; Deployment</vt:lpstr>
      <vt:lpstr>4. Input details</vt:lpstr>
      <vt:lpstr>5. Graphical Representation</vt:lpstr>
      <vt:lpstr>6. Final Result &amp; Conclusion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Diggaj Turkar</dc:creator>
  <cp:lastModifiedBy>Diggaj Turkar</cp:lastModifiedBy>
  <cp:revision>3</cp:revision>
  <dcterms:created xsi:type="dcterms:W3CDTF">2026-09-23T14:46:37Z</dcterms:created>
  <dcterms:modified xsi:type="dcterms:W3CDTF">2026-10-11T19:11:21Z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v10.0.20070.1</vt:lpwstr>
  </property>
  <property fmtid="{D5CDD505-2E9C-101B-9397-08002B2CF9AE}" pid="3" name="Created">
    <vt:filetime>2026-09-23T00:00:00Z</vt:filetime>
  </property>
  <property fmtid="{D5CDD505-2E9C-101B-9397-08002B2CF9AE}" pid="4" name="Creator">
    <vt:lpwstr>Google</vt:lpwstr>
  </property>
  <property fmtid="{D5CDD505-2E9C-101B-9397-08002B2CF9AE}" pid="5" name="LastSaved">
    <vt:filetime>2026-09-23T00:00:00Z</vt:filetime>
  </property>
</Properties>
</file>